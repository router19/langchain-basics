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1pPr>
    <a:lvl2pPr marL="0" marR="0" indent="4572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2pPr>
    <a:lvl3pPr marL="0" marR="0" indent="9144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3pPr>
    <a:lvl4pPr marL="0" marR="0" indent="13716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4pPr>
    <a:lvl5pPr marL="0" marR="0" indent="18288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5pPr>
    <a:lvl6pPr marL="0" marR="0" indent="22860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6pPr>
    <a:lvl7pPr marL="0" marR="0" indent="27432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7pPr>
    <a:lvl8pPr marL="0" marR="0" indent="32004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8pPr>
    <a:lvl9pPr marL="0" marR="0" indent="36576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lumOff val="-13575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hueOff val="114395"/>
              <a:lumOff val="-24975"/>
            </a:schemeClr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 b="def" i="def"/>
      <a:tcStyle>
        <a:tcBdr/>
        <a:fill>
          <a:solidFill>
            <a:srgbClr val="E1E0DA"/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3">
              <a:hueOff val="362282"/>
              <a:satOff val="31803"/>
              <a:lumOff val="-18242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929292"/>
              </a:solidFill>
              <a:prstDash val="solid"/>
              <a:miter lim="400000"/>
            </a:ln>
          </a:left>
          <a:right>
            <a:ln w="127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929292"/>
              </a:solidFill>
              <a:prstDash val="solid"/>
              <a:miter lim="400000"/>
            </a:ln>
          </a:insideH>
          <a:insideV>
            <a:ln w="127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solidFill>
            <a:srgbClr val="01710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rgbClr val="EDEADD"/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9BA00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 b="def" i="def"/>
      <a:tcStyle>
        <a:tcBdr/>
        <a:fill>
          <a:solidFill>
            <a:srgbClr val="DADBDA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chemeClr val="accent6">
              <a:hueOff val="-146070"/>
              <a:satOff val="-10048"/>
              <a:lumOff val="-30626"/>
            </a:schemeClr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B5B5C1"/>
          </a:solidFill>
        </a:fill>
      </a:tcStyle>
    </a:wholeTbl>
    <a:band2H>
      <a:tcTxStyle b="def" i="def"/>
      <a:tcStyle>
        <a:tcBdr/>
        <a:fill>
          <a:solidFill>
            <a:srgbClr val="9A9AA5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85F"/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116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7" name="Shape 117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1778000" y="2298700"/>
            <a:ext cx="20828000" cy="4648200"/>
          </a:xfrm>
          <a:prstGeom prst="rect">
            <a:avLst/>
          </a:prstGeom>
        </p:spPr>
        <p:txBody>
          <a:bodyPr anchor="b"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778000" y="7073900"/>
            <a:ext cx="20828000" cy="15875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5400"/>
            </a:lvl1pPr>
            <a:lvl2pPr marL="0" indent="0" algn="ctr">
              <a:spcBef>
                <a:spcPts val="0"/>
              </a:spcBef>
              <a:buSzTx/>
              <a:buNone/>
              <a:defRPr sz="5400"/>
            </a:lvl2pPr>
            <a:lvl3pPr marL="0" indent="0" algn="ctr">
              <a:spcBef>
                <a:spcPts val="0"/>
              </a:spcBef>
              <a:buSzTx/>
              <a:buNone/>
              <a:defRPr sz="5400"/>
            </a:lvl3pPr>
            <a:lvl4pPr marL="0" indent="0" algn="ctr">
              <a:spcBef>
                <a:spcPts val="0"/>
              </a:spcBef>
              <a:buSzTx/>
              <a:buNone/>
              <a:defRPr sz="5400"/>
            </a:lvl4pPr>
            <a:lvl5pPr marL="0" indent="0" algn="ctr">
              <a:spcBef>
                <a:spcPts val="0"/>
              </a:spcBef>
              <a:buSzTx/>
              <a:buNone/>
              <a:defRPr sz="5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View of beach and sea from a grassy sand dune"/>
          <p:cNvSpPr/>
          <p:nvPr>
            <p:ph type="pic" idx="21"/>
          </p:nvPr>
        </p:nvSpPr>
        <p:spPr>
          <a:xfrm>
            <a:off x="3125968" y="-393700"/>
            <a:ext cx="18135601" cy="120904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635000" y="9512300"/>
            <a:ext cx="23114000" cy="2006600"/>
          </a:xfrm>
          <a:prstGeom prst="rect">
            <a:avLst/>
          </a:prstGeom>
        </p:spPr>
        <p:txBody>
          <a:bodyPr anchor="b"/>
          <a:lstStyle/>
          <a:p>
            <a:pPr/>
            <a:r>
              <a:t>Title Text</a:t>
            </a:r>
          </a:p>
        </p:txBody>
      </p:sp>
      <p:sp>
        <p:nvSpPr>
          <p:cNvPr id="22" name="Body Level One…"/>
          <p:cNvSpPr txBox="1"/>
          <p:nvPr>
            <p:ph type="body" sz="quarter" idx="1"/>
          </p:nvPr>
        </p:nvSpPr>
        <p:spPr>
          <a:xfrm>
            <a:off x="635000" y="11442700"/>
            <a:ext cx="23114000" cy="15875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5400"/>
            </a:lvl1pPr>
            <a:lvl2pPr marL="0" indent="0" algn="ctr">
              <a:spcBef>
                <a:spcPts val="0"/>
              </a:spcBef>
              <a:buSzTx/>
              <a:buNone/>
              <a:defRPr sz="5400"/>
            </a:lvl2pPr>
            <a:lvl3pPr marL="0" indent="0" algn="ctr">
              <a:spcBef>
                <a:spcPts val="0"/>
              </a:spcBef>
              <a:buSzTx/>
              <a:buNone/>
              <a:defRPr sz="5400"/>
            </a:lvl3pPr>
            <a:lvl4pPr marL="0" indent="0" algn="ctr">
              <a:spcBef>
                <a:spcPts val="0"/>
              </a:spcBef>
              <a:buSzTx/>
              <a:buNone/>
              <a:defRPr sz="5400"/>
            </a:lvl4pPr>
            <a:lvl5pPr marL="0" indent="0" algn="ctr">
              <a:spcBef>
                <a:spcPts val="0"/>
              </a:spcBef>
              <a:buSzTx/>
              <a:buNone/>
              <a:defRPr sz="5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- Cen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/>
          <p:nvPr>
            <p:ph type="title"/>
          </p:nvPr>
        </p:nvSpPr>
        <p:spPr>
          <a:xfrm>
            <a:off x="1778000" y="4533900"/>
            <a:ext cx="20828000" cy="4648200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Heron flying low over a beach with a short fence in the foreground"/>
          <p:cNvSpPr/>
          <p:nvPr>
            <p:ph type="pic" sz="half" idx="21"/>
          </p:nvPr>
        </p:nvSpPr>
        <p:spPr>
          <a:xfrm>
            <a:off x="12827000" y="952500"/>
            <a:ext cx="11468100" cy="114681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39" name="Title Text"/>
          <p:cNvSpPr txBox="1"/>
          <p:nvPr>
            <p:ph type="title"/>
          </p:nvPr>
        </p:nvSpPr>
        <p:spPr>
          <a:xfrm>
            <a:off x="1651000" y="952500"/>
            <a:ext cx="10223500" cy="5549900"/>
          </a:xfrm>
          <a:prstGeom prst="rect">
            <a:avLst/>
          </a:prstGeom>
        </p:spPr>
        <p:txBody>
          <a:bodyPr anchor="b"/>
          <a:lstStyle>
            <a:lvl1pPr>
              <a:defRPr sz="8400"/>
            </a:lvl1pPr>
          </a:lstStyle>
          <a:p>
            <a:pPr/>
            <a:r>
              <a:t>Title Text</a:t>
            </a:r>
          </a:p>
        </p:txBody>
      </p:sp>
      <p:sp>
        <p:nvSpPr>
          <p:cNvPr id="40" name="Body Level One…"/>
          <p:cNvSpPr txBox="1"/>
          <p:nvPr>
            <p:ph type="body" sz="quarter" idx="1"/>
          </p:nvPr>
        </p:nvSpPr>
        <p:spPr>
          <a:xfrm>
            <a:off x="1651000" y="6527800"/>
            <a:ext cx="10223500" cy="57277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5400"/>
            </a:lvl1pPr>
            <a:lvl2pPr marL="0" indent="0" algn="ctr">
              <a:spcBef>
                <a:spcPts val="0"/>
              </a:spcBef>
              <a:buSzTx/>
              <a:buNone/>
              <a:defRPr sz="5400"/>
            </a:lvl2pPr>
            <a:lvl3pPr marL="0" indent="0" algn="ctr">
              <a:spcBef>
                <a:spcPts val="0"/>
              </a:spcBef>
              <a:buSzTx/>
              <a:buNone/>
              <a:defRPr sz="5400"/>
            </a:lvl3pPr>
            <a:lvl4pPr marL="0" indent="0" algn="ctr">
              <a:spcBef>
                <a:spcPts val="0"/>
              </a:spcBef>
              <a:buSzTx/>
              <a:buNone/>
              <a:defRPr sz="5400"/>
            </a:lvl4pPr>
            <a:lvl5pPr marL="0" indent="0" algn="ctr">
              <a:spcBef>
                <a:spcPts val="0"/>
              </a:spcBef>
              <a:buSzTx/>
              <a:buNone/>
              <a:defRPr sz="5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7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andy path between two hills leading to the ocean"/>
          <p:cNvSpPr/>
          <p:nvPr>
            <p:ph type="pic" sz="half" idx="21"/>
          </p:nvPr>
        </p:nvSpPr>
        <p:spPr>
          <a:xfrm>
            <a:off x="10960100" y="3149600"/>
            <a:ext cx="13944600" cy="92964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66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67" name="Body Level One…"/>
          <p:cNvSpPr txBox="1"/>
          <p:nvPr>
            <p:ph type="body" sz="half" idx="1"/>
          </p:nvPr>
        </p:nvSpPr>
        <p:spPr>
          <a:xfrm>
            <a:off x="1689100" y="3149600"/>
            <a:ext cx="10223500" cy="9296400"/>
          </a:xfrm>
          <a:prstGeom prst="rect">
            <a:avLst/>
          </a:prstGeom>
        </p:spPr>
        <p:txBody>
          <a:bodyPr/>
          <a:lstStyle>
            <a:lvl1pPr marL="558800" indent="-558800">
              <a:spcBef>
                <a:spcPts val="4500"/>
              </a:spcBef>
              <a:defRPr sz="3800"/>
            </a:lvl1pPr>
            <a:lvl2pPr marL="1117600" indent="-558800">
              <a:spcBef>
                <a:spcPts val="4500"/>
              </a:spcBef>
              <a:defRPr sz="3800"/>
            </a:lvl2pPr>
            <a:lvl3pPr marL="1676400" indent="-558800">
              <a:spcBef>
                <a:spcPts val="4500"/>
              </a:spcBef>
              <a:defRPr sz="3800"/>
            </a:lvl3pPr>
            <a:lvl4pPr marL="2235200" indent="-558800">
              <a:spcBef>
                <a:spcPts val="4500"/>
              </a:spcBef>
              <a:defRPr sz="3800"/>
            </a:lvl4pPr>
            <a:lvl5pPr marL="2794000" indent="-558800">
              <a:spcBef>
                <a:spcPts val="4500"/>
              </a:spcBef>
              <a:defRPr sz="3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/>
          <p:nvPr>
            <p:ph type="body" idx="1"/>
          </p:nvPr>
        </p:nvSpPr>
        <p:spPr>
          <a:xfrm>
            <a:off x="1689100" y="1778000"/>
            <a:ext cx="21005800" cy="10160000"/>
          </a:xfrm>
          <a:prstGeom prst="rect">
            <a:avLst/>
          </a:prstGeom>
        </p:spPr>
        <p:txBody>
          <a:bodyPr/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andy path between two hills leading to the ocean"/>
          <p:cNvSpPr/>
          <p:nvPr>
            <p:ph type="pic" sz="quarter" idx="21"/>
          </p:nvPr>
        </p:nvSpPr>
        <p:spPr>
          <a:xfrm>
            <a:off x="15300325" y="7048500"/>
            <a:ext cx="8324850" cy="5549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84" name="Heron flying low over a beach with a short fence in the foreground"/>
          <p:cNvSpPr/>
          <p:nvPr>
            <p:ph type="pic" sz="quarter" idx="22"/>
          </p:nvPr>
        </p:nvSpPr>
        <p:spPr>
          <a:xfrm>
            <a:off x="15760700" y="863600"/>
            <a:ext cx="7404100" cy="74041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85" name="View of beach and sea from a grassy sand dune"/>
          <p:cNvSpPr/>
          <p:nvPr>
            <p:ph type="pic" idx="23"/>
          </p:nvPr>
        </p:nvSpPr>
        <p:spPr>
          <a:xfrm>
            <a:off x="-990600" y="1130300"/>
            <a:ext cx="17202150" cy="114681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8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–Johnny Appleseed"/>
          <p:cNvSpPr txBox="1"/>
          <p:nvPr>
            <p:ph type="body" sz="quarter" idx="21"/>
          </p:nvPr>
        </p:nvSpPr>
        <p:spPr>
          <a:xfrm>
            <a:off x="2387600" y="8953500"/>
            <a:ext cx="19621500" cy="585521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i="1" sz="3200"/>
            </a:lvl1pPr>
          </a:lstStyle>
          <a:p>
            <a:pPr/>
            <a:r>
              <a:t>–Johnny Appleseed</a:t>
            </a:r>
          </a:p>
        </p:txBody>
      </p:sp>
      <p:sp>
        <p:nvSpPr>
          <p:cNvPr id="94" name="“Type a quote here.”"/>
          <p:cNvSpPr txBox="1"/>
          <p:nvPr>
            <p:ph type="body" sz="quarter" idx="22"/>
          </p:nvPr>
        </p:nvSpPr>
        <p:spPr>
          <a:xfrm>
            <a:off x="2387600" y="6076950"/>
            <a:ext cx="19621500" cy="8255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4800"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“Type a quote here.” </a:t>
            </a:r>
          </a:p>
        </p:txBody>
      </p:sp>
      <p:sp>
        <p:nvSpPr>
          <p:cNvPr id="9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View of beach and sea from a grassy sand dune"/>
          <p:cNvSpPr/>
          <p:nvPr>
            <p:ph type="pic" idx="21"/>
          </p:nvPr>
        </p:nvSpPr>
        <p:spPr>
          <a:xfrm>
            <a:off x="-50800" y="-1270000"/>
            <a:ext cx="24485600" cy="16323734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10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1689100" y="355600"/>
            <a:ext cx="21005800" cy="2286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1689100" y="3149600"/>
            <a:ext cx="21005800" cy="9296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>
              <a:defRPr b="0"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transition xmlns:p14="http://schemas.microsoft.com/office/powerpoint/2010/main" spd="med" advClick="1"/>
  <p:txStyles>
    <p:title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1pPr>
      <a:lvl2pPr marL="0" marR="0" indent="457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914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1371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1828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22860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2743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3200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3657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63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5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127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5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190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5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254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5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317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5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381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5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444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5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508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5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571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5200" u="none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457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914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1371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1828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22860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2743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3200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3657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Langchain"/>
          <p:cNvSpPr txBox="1"/>
          <p:nvPr/>
        </p:nvSpPr>
        <p:spPr>
          <a:xfrm>
            <a:off x="5424716" y="1501983"/>
            <a:ext cx="5995671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Langchain</a:t>
            </a:r>
          </a:p>
        </p:txBody>
      </p:sp>
      <p:sp>
        <p:nvSpPr>
          <p:cNvPr id="120" name="Large      Language…"/>
          <p:cNvSpPr/>
          <p:nvPr/>
        </p:nvSpPr>
        <p:spPr>
          <a:xfrm>
            <a:off x="16427998" y="5353803"/>
            <a:ext cx="4119288" cy="3675126"/>
          </a:xfrm>
          <a:prstGeom prst="roundRect">
            <a:avLst>
              <a:gd name="adj" fmla="val 16813"/>
            </a:avLst>
          </a:prstGeom>
          <a:solidFill>
            <a:schemeClr val="accent1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/>
          <a:p>
            <a:pPr>
              <a:defRPr b="0" sz="6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r>
              <a:t>Large      Language</a:t>
            </a:r>
          </a:p>
          <a:p>
            <a:pPr>
              <a:defRPr b="0" sz="6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r>
              <a:t>Model</a:t>
            </a:r>
          </a:p>
        </p:txBody>
      </p:sp>
      <p:sp>
        <p:nvSpPr>
          <p:cNvPr id="121" name="Line"/>
          <p:cNvSpPr/>
          <p:nvPr/>
        </p:nvSpPr>
        <p:spPr>
          <a:xfrm flipH="1">
            <a:off x="4398584" y="7723471"/>
            <a:ext cx="1212207" cy="1"/>
          </a:xfrm>
          <a:prstGeom prst="line">
            <a:avLst/>
          </a:prstGeom>
          <a:ln w="1270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22" name="Input"/>
          <p:cNvSpPr txBox="1"/>
          <p:nvPr/>
        </p:nvSpPr>
        <p:spPr>
          <a:xfrm>
            <a:off x="13044053" y="5453131"/>
            <a:ext cx="1850899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Input</a:t>
            </a:r>
          </a:p>
        </p:txBody>
      </p:sp>
      <p:sp>
        <p:nvSpPr>
          <p:cNvPr id="123" name="Line"/>
          <p:cNvSpPr/>
          <p:nvPr/>
        </p:nvSpPr>
        <p:spPr>
          <a:xfrm>
            <a:off x="4433096" y="6659260"/>
            <a:ext cx="1302002" cy="1"/>
          </a:xfrm>
          <a:prstGeom prst="line">
            <a:avLst/>
          </a:prstGeom>
          <a:ln w="1270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24" name="Output"/>
          <p:cNvSpPr txBox="1"/>
          <p:nvPr/>
        </p:nvSpPr>
        <p:spPr>
          <a:xfrm>
            <a:off x="12482778" y="8385924"/>
            <a:ext cx="2472691" cy="99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Output</a:t>
            </a:r>
          </a:p>
        </p:txBody>
      </p:sp>
      <p:sp>
        <p:nvSpPr>
          <p:cNvPr id="125" name="GEMINI"/>
          <p:cNvSpPr txBox="1"/>
          <p:nvPr/>
        </p:nvSpPr>
        <p:spPr>
          <a:xfrm>
            <a:off x="21078464" y="5810993"/>
            <a:ext cx="2766823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GEMINI</a:t>
            </a:r>
          </a:p>
        </p:txBody>
      </p:sp>
      <p:sp>
        <p:nvSpPr>
          <p:cNvPr id="126" name="GPT"/>
          <p:cNvSpPr txBox="1"/>
          <p:nvPr/>
        </p:nvSpPr>
        <p:spPr>
          <a:xfrm>
            <a:off x="21109130" y="4688426"/>
            <a:ext cx="1623823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GPT</a:t>
            </a:r>
          </a:p>
        </p:txBody>
      </p:sp>
      <p:sp>
        <p:nvSpPr>
          <p:cNvPr id="127" name="LLAMA"/>
          <p:cNvSpPr txBox="1"/>
          <p:nvPr/>
        </p:nvSpPr>
        <p:spPr>
          <a:xfrm>
            <a:off x="20866982" y="7843448"/>
            <a:ext cx="2612899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LLAMA</a:t>
            </a:r>
          </a:p>
        </p:txBody>
      </p:sp>
      <p:sp>
        <p:nvSpPr>
          <p:cNvPr id="128" name="MISTRAL"/>
          <p:cNvSpPr txBox="1"/>
          <p:nvPr/>
        </p:nvSpPr>
        <p:spPr>
          <a:xfrm>
            <a:off x="20788904" y="8822098"/>
            <a:ext cx="3345943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MISTRAL</a:t>
            </a:r>
          </a:p>
        </p:txBody>
      </p:sp>
      <p:sp>
        <p:nvSpPr>
          <p:cNvPr id="129" name="Rounded Rectangle"/>
          <p:cNvSpPr/>
          <p:nvPr/>
        </p:nvSpPr>
        <p:spPr>
          <a:xfrm>
            <a:off x="5834856" y="3551678"/>
            <a:ext cx="5175392" cy="7279376"/>
          </a:xfrm>
          <a:prstGeom prst="roundRect">
            <a:avLst>
              <a:gd name="adj" fmla="val 11939"/>
            </a:avLst>
          </a:prstGeom>
          <a:ln w="127000">
            <a:solidFill>
              <a:schemeClr val="accent1">
                <a:lumOff val="16847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b="0" sz="6000"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130" name="APP"/>
          <p:cNvSpPr/>
          <p:nvPr/>
        </p:nvSpPr>
        <p:spPr>
          <a:xfrm>
            <a:off x="243038" y="5534926"/>
            <a:ext cx="4119288" cy="3312880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8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APP</a:t>
            </a:r>
          </a:p>
        </p:txBody>
      </p:sp>
      <p:sp>
        <p:nvSpPr>
          <p:cNvPr id="131" name="ChatOpenAI"/>
          <p:cNvSpPr txBox="1"/>
          <p:nvPr/>
        </p:nvSpPr>
        <p:spPr>
          <a:xfrm>
            <a:off x="6157125" y="4792995"/>
            <a:ext cx="4530853" cy="1019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6000"/>
            </a:lvl1pPr>
          </a:lstStyle>
          <a:p>
            <a:pPr/>
            <a:r>
              <a:t>ChatOpenAI</a:t>
            </a:r>
          </a:p>
        </p:txBody>
      </p:sp>
      <p:sp>
        <p:nvSpPr>
          <p:cNvPr id="132" name="ChatOllama"/>
          <p:cNvSpPr txBox="1"/>
          <p:nvPr/>
        </p:nvSpPr>
        <p:spPr>
          <a:xfrm>
            <a:off x="6228753" y="6348351"/>
            <a:ext cx="4387597" cy="10192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6000"/>
            </a:lvl1pPr>
          </a:lstStyle>
          <a:p>
            <a:pPr/>
            <a:r>
              <a:t>ChatOllama</a:t>
            </a:r>
          </a:p>
        </p:txBody>
      </p:sp>
      <p:sp>
        <p:nvSpPr>
          <p:cNvPr id="133" name="ChatGoogle…"/>
          <p:cNvSpPr txBox="1"/>
          <p:nvPr/>
        </p:nvSpPr>
        <p:spPr>
          <a:xfrm>
            <a:off x="6023394" y="7903708"/>
            <a:ext cx="4798315" cy="1959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6000"/>
            </a:pPr>
            <a:r>
              <a:t>ChatGoogle</a:t>
            </a:r>
          </a:p>
          <a:p>
            <a:pPr>
              <a:defRPr sz="6000"/>
            </a:pPr>
            <a:r>
              <a:t>GenerativeAI</a:t>
            </a:r>
          </a:p>
        </p:txBody>
      </p:sp>
      <p:sp>
        <p:nvSpPr>
          <p:cNvPr id="134" name="Line"/>
          <p:cNvSpPr/>
          <p:nvPr/>
        </p:nvSpPr>
        <p:spPr>
          <a:xfrm>
            <a:off x="11477862" y="6815328"/>
            <a:ext cx="4736522" cy="1"/>
          </a:xfrm>
          <a:prstGeom prst="line">
            <a:avLst/>
          </a:prstGeom>
          <a:ln w="1270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35" name="Line"/>
          <p:cNvSpPr/>
          <p:nvPr/>
        </p:nvSpPr>
        <p:spPr>
          <a:xfrm flipH="1">
            <a:off x="11290055" y="8067662"/>
            <a:ext cx="4736521" cy="1"/>
          </a:xfrm>
          <a:prstGeom prst="line">
            <a:avLst/>
          </a:prstGeom>
          <a:ln w="1270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36" name="API"/>
          <p:cNvSpPr txBox="1"/>
          <p:nvPr/>
        </p:nvSpPr>
        <p:spPr>
          <a:xfrm>
            <a:off x="13066216" y="6907212"/>
            <a:ext cx="1369315" cy="1019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6000"/>
            </a:lvl1pPr>
          </a:lstStyle>
          <a:p>
            <a:pPr/>
            <a:r>
              <a:t>API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click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nodeType="clickEffect" presetSubtype="0" presetID="1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nodeType="clickEffect" presetSubtype="0" presetID="1" grpId="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nodeType="clickEffect" presetSubtype="0" presetID="1" grpId="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Class="entr" nodeType="clickEffect" presetSubtype="0" presetID="1" grpId="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Class="entr" nodeType="clickEffect" presetSubtype="0" presetID="1" grpId="1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Class="entr" nodeType="clickEffect" presetSubtype="0" presetID="1" grpId="1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Class="entr" nodeType="clickEffect" presetID="9" grpId="1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>
                                        <p:cTn id="51" dur="10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Class="entr" nodeType="clickEffect" presetID="9" grpId="1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5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>
                                        <p:cTn id="56" dur="10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Class="entr" nodeType="clickEffect" presetSubtype="0" presetID="1" grpId="1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Class="entr" nodeType="clickEffect" presetSubtype="0" presetID="1" grpId="1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4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Class="entr" nodeType="clickEffect" presetID="9" grpId="1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8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>
                                        <p:cTn id="69" dur="10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Class="entr" nodeType="clickEffect" presetSubtype="0" presetID="1" grpId="1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3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Class="entr" nodeType="clickEffect" presetID="9" grpId="1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7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>
                                        <p:cTn id="78" dur="10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34" grpId="13"/>
      <p:bldP build="whole" bldLvl="1" animBg="1" rev="0" advAuto="0" spid="123" grpId="12"/>
      <p:bldP build="whole" bldLvl="1" animBg="1" rev="0" advAuto="0" spid="131" grpId="9"/>
      <p:bldP build="whole" bldLvl="1" animBg="1" rev="0" advAuto="0" spid="130" grpId="2"/>
      <p:bldP build="whole" bldLvl="1" animBg="1" rev="0" advAuto="0" spid="126" grpId="4"/>
      <p:bldP build="whole" bldLvl="1" animBg="1" rev="0" advAuto="0" spid="135" grpId="16"/>
      <p:bldP build="whole" bldLvl="1" animBg="1" rev="0" advAuto="0" spid="121" grpId="18"/>
      <p:bldP build="whole" bldLvl="1" animBg="1" rev="0" advAuto="0" spid="129" grpId="8"/>
      <p:bldP build="whole" bldLvl="1" animBg="1" rev="0" advAuto="0" spid="125" grpId="5"/>
      <p:bldP build="whole" bldLvl="1" animBg="1" rev="0" advAuto="0" spid="128" grpId="7"/>
      <p:bldP build="whole" bldLvl="1" animBg="1" rev="0" advAuto="0" spid="136" grpId="14"/>
      <p:bldP build="whole" bldLvl="1" animBg="1" rev="0" advAuto="0" spid="119" grpId="1"/>
      <p:bldP build="whole" bldLvl="1" animBg="1" rev="0" advAuto="0" spid="120" grpId="3"/>
      <p:bldP build="whole" bldLvl="1" animBg="1" rev="0" advAuto="0" spid="127" grpId="6"/>
      <p:bldP build="whole" bldLvl="1" animBg="1" rev="0" advAuto="0" spid="133" grpId="11"/>
      <p:bldP build="whole" bldLvl="1" animBg="1" rev="0" advAuto="0" spid="132" grpId="10"/>
      <p:bldP build="whole" bldLvl="1" animBg="1" rev="0" advAuto="0" spid="122" grpId="15"/>
      <p:bldP build="whole" bldLvl="1" animBg="1" rev="0" advAuto="0" spid="124" grpId="17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Large      Language…"/>
          <p:cNvSpPr/>
          <p:nvPr/>
        </p:nvSpPr>
        <p:spPr>
          <a:xfrm>
            <a:off x="18915828" y="7616209"/>
            <a:ext cx="4119287" cy="3675126"/>
          </a:xfrm>
          <a:prstGeom prst="roundRect">
            <a:avLst>
              <a:gd name="adj" fmla="val 16813"/>
            </a:avLst>
          </a:prstGeom>
          <a:solidFill>
            <a:schemeClr val="accent5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/>
          <a:p>
            <a:pPr>
              <a:defRPr b="0" sz="6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r>
              <a:t>Large      Language</a:t>
            </a:r>
          </a:p>
          <a:p>
            <a:pPr>
              <a:defRPr b="0" sz="6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r>
              <a:t>Model</a:t>
            </a:r>
          </a:p>
        </p:txBody>
      </p:sp>
      <p:sp>
        <p:nvSpPr>
          <p:cNvPr id="139" name="Line"/>
          <p:cNvSpPr/>
          <p:nvPr/>
        </p:nvSpPr>
        <p:spPr>
          <a:xfrm>
            <a:off x="10691294" y="5970654"/>
            <a:ext cx="1" cy="1860068"/>
          </a:xfrm>
          <a:prstGeom prst="line">
            <a:avLst/>
          </a:prstGeom>
          <a:ln w="1270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40" name="Server"/>
          <p:cNvSpPr/>
          <p:nvPr/>
        </p:nvSpPr>
        <p:spPr>
          <a:xfrm>
            <a:off x="8684005" y="2641395"/>
            <a:ext cx="5002366" cy="3367245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8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Server</a:t>
            </a:r>
          </a:p>
        </p:txBody>
      </p:sp>
      <p:sp>
        <p:nvSpPr>
          <p:cNvPr id="141" name="Line"/>
          <p:cNvSpPr/>
          <p:nvPr/>
        </p:nvSpPr>
        <p:spPr>
          <a:xfrm flipV="1">
            <a:off x="11679081" y="5885278"/>
            <a:ext cx="1" cy="1860068"/>
          </a:xfrm>
          <a:prstGeom prst="line">
            <a:avLst/>
          </a:prstGeom>
          <a:ln w="1270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42" name="Langchain"/>
          <p:cNvSpPr/>
          <p:nvPr/>
        </p:nvSpPr>
        <p:spPr>
          <a:xfrm>
            <a:off x="8623086" y="7797332"/>
            <a:ext cx="5124203" cy="3312880"/>
          </a:xfrm>
          <a:prstGeom prst="rect">
            <a:avLst/>
          </a:prstGeom>
          <a:solidFill>
            <a:schemeClr val="accent3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8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Langchain</a:t>
            </a:r>
          </a:p>
        </p:txBody>
      </p:sp>
      <p:sp>
        <p:nvSpPr>
          <p:cNvPr id="143" name="DB"/>
          <p:cNvSpPr/>
          <p:nvPr/>
        </p:nvSpPr>
        <p:spPr>
          <a:xfrm>
            <a:off x="19154390" y="2424665"/>
            <a:ext cx="2879023" cy="380070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21600" fill="norm" stroke="1" extrusionOk="0">
                <a:moveTo>
                  <a:pt x="9839" y="0"/>
                </a:moveTo>
                <a:cubicBezTo>
                  <a:pt x="7321" y="0"/>
                  <a:pt x="4803" y="241"/>
                  <a:pt x="2882" y="724"/>
                </a:cubicBezTo>
                <a:cubicBezTo>
                  <a:pt x="-961" y="1689"/>
                  <a:pt x="-961" y="3255"/>
                  <a:pt x="2882" y="4221"/>
                </a:cubicBezTo>
                <a:cubicBezTo>
                  <a:pt x="6724" y="5186"/>
                  <a:pt x="12954" y="5186"/>
                  <a:pt x="16796" y="4221"/>
                </a:cubicBezTo>
                <a:cubicBezTo>
                  <a:pt x="20639" y="3255"/>
                  <a:pt x="20639" y="1689"/>
                  <a:pt x="16796" y="724"/>
                </a:cubicBezTo>
                <a:cubicBezTo>
                  <a:pt x="14875" y="241"/>
                  <a:pt x="12357" y="0"/>
                  <a:pt x="9839" y="0"/>
                </a:cubicBezTo>
                <a:close/>
                <a:moveTo>
                  <a:pt x="0" y="3593"/>
                </a:moveTo>
                <a:lnTo>
                  <a:pt x="0" y="18993"/>
                </a:lnTo>
                <a:cubicBezTo>
                  <a:pt x="0" y="20356"/>
                  <a:pt x="4405" y="21600"/>
                  <a:pt x="9839" y="21600"/>
                </a:cubicBezTo>
                <a:cubicBezTo>
                  <a:pt x="15273" y="21600"/>
                  <a:pt x="19678" y="20356"/>
                  <a:pt x="19678" y="18993"/>
                </a:cubicBezTo>
                <a:lnTo>
                  <a:pt x="19678" y="3593"/>
                </a:lnTo>
                <a:cubicBezTo>
                  <a:pt x="18279" y="4621"/>
                  <a:pt x="14401" y="5357"/>
                  <a:pt x="9839" y="5357"/>
                </a:cubicBezTo>
                <a:cubicBezTo>
                  <a:pt x="5277" y="5357"/>
                  <a:pt x="1399" y="4621"/>
                  <a:pt x="0" y="3593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5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DB</a:t>
            </a:r>
          </a:p>
        </p:txBody>
      </p:sp>
      <p:sp>
        <p:nvSpPr>
          <p:cNvPr id="144" name="Line"/>
          <p:cNvSpPr/>
          <p:nvPr/>
        </p:nvSpPr>
        <p:spPr>
          <a:xfrm flipH="1">
            <a:off x="13836008" y="10160661"/>
            <a:ext cx="4736521" cy="1"/>
          </a:xfrm>
          <a:prstGeom prst="line">
            <a:avLst/>
          </a:prstGeom>
          <a:ln w="1270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45" name="Line"/>
          <p:cNvSpPr/>
          <p:nvPr/>
        </p:nvSpPr>
        <p:spPr>
          <a:xfrm>
            <a:off x="14042649" y="8746883"/>
            <a:ext cx="4736522" cy="1"/>
          </a:xfrm>
          <a:prstGeom prst="line">
            <a:avLst/>
          </a:prstGeom>
          <a:ln w="1270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46" name="Computer"/>
          <p:cNvSpPr/>
          <p:nvPr/>
        </p:nvSpPr>
        <p:spPr>
          <a:xfrm>
            <a:off x="495449" y="3041814"/>
            <a:ext cx="3180250" cy="25664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5" h="21600" fill="norm" stroke="1" extrusionOk="0">
                <a:moveTo>
                  <a:pt x="464" y="0"/>
                </a:moveTo>
                <a:cubicBezTo>
                  <a:pt x="210" y="0"/>
                  <a:pt x="0" y="261"/>
                  <a:pt x="0" y="575"/>
                </a:cubicBezTo>
                <a:lnTo>
                  <a:pt x="0" y="17777"/>
                </a:lnTo>
                <a:cubicBezTo>
                  <a:pt x="0" y="18091"/>
                  <a:pt x="210" y="18354"/>
                  <a:pt x="464" y="18354"/>
                </a:cubicBezTo>
                <a:lnTo>
                  <a:pt x="9148" y="18354"/>
                </a:lnTo>
                <a:lnTo>
                  <a:pt x="9116" y="18513"/>
                </a:lnTo>
                <a:lnTo>
                  <a:pt x="8753" y="20763"/>
                </a:lnTo>
                <a:lnTo>
                  <a:pt x="7690" y="20763"/>
                </a:lnTo>
                <a:lnTo>
                  <a:pt x="7690" y="21600"/>
                </a:lnTo>
                <a:lnTo>
                  <a:pt x="10486" y="21600"/>
                </a:lnTo>
                <a:lnTo>
                  <a:pt x="11107" y="21600"/>
                </a:lnTo>
                <a:lnTo>
                  <a:pt x="13905" y="21600"/>
                </a:lnTo>
                <a:lnTo>
                  <a:pt x="13905" y="20763"/>
                </a:lnTo>
                <a:lnTo>
                  <a:pt x="12842" y="20763"/>
                </a:lnTo>
                <a:lnTo>
                  <a:pt x="12479" y="18513"/>
                </a:lnTo>
                <a:lnTo>
                  <a:pt x="12452" y="18354"/>
                </a:lnTo>
                <a:lnTo>
                  <a:pt x="21131" y="18354"/>
                </a:lnTo>
                <a:cubicBezTo>
                  <a:pt x="21384" y="18354"/>
                  <a:pt x="21595" y="18091"/>
                  <a:pt x="21595" y="17777"/>
                </a:cubicBezTo>
                <a:lnTo>
                  <a:pt x="21595" y="575"/>
                </a:lnTo>
                <a:cubicBezTo>
                  <a:pt x="21600" y="261"/>
                  <a:pt x="21389" y="0"/>
                  <a:pt x="21136" y="0"/>
                </a:cubicBezTo>
                <a:lnTo>
                  <a:pt x="464" y="0"/>
                </a:lnTo>
                <a:close/>
                <a:moveTo>
                  <a:pt x="10800" y="542"/>
                </a:moveTo>
                <a:cubicBezTo>
                  <a:pt x="10913" y="542"/>
                  <a:pt x="11006" y="650"/>
                  <a:pt x="11006" y="797"/>
                </a:cubicBezTo>
                <a:cubicBezTo>
                  <a:pt x="11006" y="937"/>
                  <a:pt x="10913" y="1052"/>
                  <a:pt x="10800" y="1052"/>
                </a:cubicBezTo>
                <a:cubicBezTo>
                  <a:pt x="10686" y="1052"/>
                  <a:pt x="10594" y="937"/>
                  <a:pt x="10594" y="797"/>
                </a:cubicBezTo>
                <a:cubicBezTo>
                  <a:pt x="10594" y="656"/>
                  <a:pt x="10686" y="542"/>
                  <a:pt x="10800" y="542"/>
                </a:cubicBezTo>
                <a:close/>
                <a:moveTo>
                  <a:pt x="1242" y="1734"/>
                </a:moveTo>
                <a:lnTo>
                  <a:pt x="20358" y="1734"/>
                </a:lnTo>
                <a:lnTo>
                  <a:pt x="20358" y="15233"/>
                </a:lnTo>
                <a:lnTo>
                  <a:pt x="1242" y="15233"/>
                </a:lnTo>
                <a:lnTo>
                  <a:pt x="1242" y="1734"/>
                </a:ln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147" name="Line"/>
          <p:cNvSpPr/>
          <p:nvPr/>
        </p:nvSpPr>
        <p:spPr>
          <a:xfrm flipH="1" flipV="1">
            <a:off x="14066329" y="5263950"/>
            <a:ext cx="4736521" cy="1"/>
          </a:xfrm>
          <a:prstGeom prst="line">
            <a:avLst/>
          </a:prstGeom>
          <a:ln w="1270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48" name="Line"/>
          <p:cNvSpPr/>
          <p:nvPr/>
        </p:nvSpPr>
        <p:spPr>
          <a:xfrm>
            <a:off x="14179120" y="3949721"/>
            <a:ext cx="4736521" cy="1"/>
          </a:xfrm>
          <a:prstGeom prst="line">
            <a:avLst/>
          </a:prstGeom>
          <a:ln w="1270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49" name="Line"/>
          <p:cNvSpPr/>
          <p:nvPr/>
        </p:nvSpPr>
        <p:spPr>
          <a:xfrm flipH="1" flipV="1">
            <a:off x="3708735" y="5119728"/>
            <a:ext cx="4736521" cy="1"/>
          </a:xfrm>
          <a:prstGeom prst="line">
            <a:avLst/>
          </a:prstGeom>
          <a:ln w="1270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50" name="Line"/>
          <p:cNvSpPr/>
          <p:nvPr/>
        </p:nvSpPr>
        <p:spPr>
          <a:xfrm>
            <a:off x="3939356" y="3841554"/>
            <a:ext cx="4736522" cy="1"/>
          </a:xfrm>
          <a:prstGeom prst="line">
            <a:avLst/>
          </a:prstGeom>
          <a:ln w="1270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51" name="Web APP"/>
          <p:cNvSpPr/>
          <p:nvPr/>
        </p:nvSpPr>
        <p:spPr>
          <a:xfrm>
            <a:off x="10794058" y="918252"/>
            <a:ext cx="3180250" cy="256640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Web APP</a:t>
            </a:r>
          </a:p>
        </p:txBody>
      </p:sp>
      <p:sp>
        <p:nvSpPr>
          <p:cNvPr id="152" name="API"/>
          <p:cNvSpPr txBox="1"/>
          <p:nvPr/>
        </p:nvSpPr>
        <p:spPr>
          <a:xfrm>
            <a:off x="15749932" y="8944123"/>
            <a:ext cx="1369315" cy="10192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6000"/>
            </a:lvl1pPr>
          </a:lstStyle>
          <a:p>
            <a:pPr/>
            <a:r>
              <a:t>API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click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nodeType="clickEffect" presetSubtype="0" presetID="1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nodeType="clickEffect" presetSubtype="0" presetID="1" grpId="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nodeType="clickEffect" presetSubtype="0" presetID="1" grpId="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Class="entr" nodeType="clickEffect" presetSubtype="0" presetID="1" grpId="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Class="entr" nodeType="clickEffect" presetSubtype="0" presetID="1" grpId="1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Class="entr" nodeType="clickEffect" presetSubtype="0" presetID="1" grpId="1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Class="entr" nodeType="clickEffect" presetSubtype="0" presetID="1" grpId="1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Class="entr" nodeType="clickEffect" presetSubtype="0" presetID="1" grpId="1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Class="entr" nodeType="clickEffect" presetSubtype="0" presetID="1" grpId="1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Class="entr" nodeType="clickEffect" presetSubtype="0" presetID="1" grpId="1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51" grpId="4"/>
      <p:bldP build="whole" bldLvl="1" animBg="1" rev="0" advAuto="0" spid="145" grpId="11"/>
      <p:bldP build="whole" bldLvl="1" animBg="1" rev="0" advAuto="0" spid="141" grpId="15"/>
      <p:bldP build="whole" bldLvl="1" animBg="1" rev="0" advAuto="0" spid="138" grpId="13"/>
      <p:bldP build="whole" bldLvl="1" animBg="1" rev="0" advAuto="0" spid="152" grpId="12"/>
      <p:bldP build="whole" bldLvl="1" animBg="1" rev="0" advAuto="0" spid="140" grpId="3"/>
      <p:bldP build="whole" bldLvl="1" animBg="1" rev="0" advAuto="0" spid="143" grpId="6"/>
      <p:bldP build="whole" bldLvl="1" animBg="1" rev="0" advAuto="0" spid="139" grpId="9"/>
      <p:bldP build="whole" bldLvl="1" animBg="1" rev="0" advAuto="0" spid="146" grpId="1"/>
      <p:bldP build="whole" bldLvl="1" animBg="1" rev="0" advAuto="0" spid="142" grpId="10"/>
      <p:bldP build="whole" bldLvl="1" animBg="1" rev="0" advAuto="0" spid="150" grpId="2"/>
      <p:bldP build="whole" bldLvl="1" animBg="1" rev="0" advAuto="0" spid="149" grpId="8"/>
      <p:bldP build="whole" bldLvl="1" animBg="1" rev="0" advAuto="0" spid="148" grpId="5"/>
      <p:bldP build="whole" bldLvl="1" animBg="1" rev="0" advAuto="0" spid="144" grpId="14"/>
      <p:bldP build="whole" bldLvl="1" animBg="1" rev="0" advAuto="0" spid="147" grpId="7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LLM"/>
          <p:cNvSpPr txBox="1"/>
          <p:nvPr/>
        </p:nvSpPr>
        <p:spPr>
          <a:xfrm>
            <a:off x="621354" y="595914"/>
            <a:ext cx="2772411" cy="16268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0000"/>
            </a:lvl1pPr>
          </a:lstStyle>
          <a:p>
            <a:pPr/>
            <a:r>
              <a:t>LLM</a:t>
            </a:r>
          </a:p>
        </p:txBody>
      </p:sp>
      <p:sp>
        <p:nvSpPr>
          <p:cNvPr id="155" name="Rectangle"/>
          <p:cNvSpPr/>
          <p:nvPr/>
        </p:nvSpPr>
        <p:spPr>
          <a:xfrm>
            <a:off x="16226102" y="3454689"/>
            <a:ext cx="7257251" cy="732429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156" name="Line"/>
          <p:cNvSpPr/>
          <p:nvPr/>
        </p:nvSpPr>
        <p:spPr>
          <a:xfrm>
            <a:off x="9057419" y="7116834"/>
            <a:ext cx="7079690" cy="1"/>
          </a:xfrm>
          <a:prstGeom prst="line">
            <a:avLst/>
          </a:prstGeom>
          <a:ln w="1270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57" name="Large…"/>
          <p:cNvSpPr txBox="1"/>
          <p:nvPr/>
        </p:nvSpPr>
        <p:spPr>
          <a:xfrm>
            <a:off x="17407437" y="5270508"/>
            <a:ext cx="4894581" cy="36926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b="0" sz="8000"/>
            </a:pPr>
            <a:r>
              <a:t>Large </a:t>
            </a:r>
          </a:p>
          <a:p>
            <a:pPr>
              <a:defRPr b="0" sz="8000"/>
            </a:pPr>
            <a:r>
              <a:t>Language </a:t>
            </a:r>
          </a:p>
          <a:p>
            <a:pPr>
              <a:defRPr b="0" sz="8000"/>
            </a:pPr>
            <a:r>
              <a:t>Model</a:t>
            </a:r>
          </a:p>
        </p:txBody>
      </p:sp>
      <p:pic>
        <p:nvPicPr>
          <p:cNvPr id="158" name="Data 2.png" descr="Data 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33610" y="3060479"/>
            <a:ext cx="8434816" cy="843481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clickEffect" presetID="9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>
                                        <p:cTn id="23" dur="10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57" grpId="3"/>
      <p:bldP build="whole" bldLvl="1" animBg="1" rev="0" advAuto="0" spid="155" grpId="2"/>
      <p:bldP build="whole" bldLvl="1" animBg="1" rev="0" advAuto="0" spid="158" grpId="4"/>
      <p:bldP build="whole" bldLvl="1" animBg="1" rev="0" advAuto="0" spid="156" grpId="5"/>
      <p:bldP build="whole" bldLvl="1" animBg="1" rev="0" advAuto="0" spid="154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rompt"/>
          <p:cNvSpPr txBox="1"/>
          <p:nvPr/>
        </p:nvSpPr>
        <p:spPr>
          <a:xfrm>
            <a:off x="1362441" y="2631177"/>
            <a:ext cx="4302761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Prompt</a:t>
            </a:r>
          </a:p>
        </p:txBody>
      </p:sp>
      <p:sp>
        <p:nvSpPr>
          <p:cNvPr id="161" name="Large      Language…"/>
          <p:cNvSpPr/>
          <p:nvPr/>
        </p:nvSpPr>
        <p:spPr>
          <a:xfrm>
            <a:off x="14157238" y="2954669"/>
            <a:ext cx="4408592" cy="453990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/>
          <a:p>
            <a:pPr>
              <a:defRPr b="0" sz="6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r>
              <a:t>Large      Language</a:t>
            </a:r>
          </a:p>
          <a:p>
            <a:pPr>
              <a:defRPr b="0" sz="6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r>
              <a:t>Model</a:t>
            </a:r>
          </a:p>
        </p:txBody>
      </p:sp>
      <p:sp>
        <p:nvSpPr>
          <p:cNvPr id="162" name="What is Machine Learning"/>
          <p:cNvSpPr/>
          <p:nvPr/>
        </p:nvSpPr>
        <p:spPr>
          <a:xfrm>
            <a:off x="1503893" y="4284185"/>
            <a:ext cx="6209174" cy="1880868"/>
          </a:xfrm>
          <a:prstGeom prst="rect">
            <a:avLst/>
          </a:prstGeom>
          <a:solidFill>
            <a:schemeClr val="accent3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What is Machine Learning</a:t>
            </a:r>
          </a:p>
        </p:txBody>
      </p:sp>
      <p:sp>
        <p:nvSpPr>
          <p:cNvPr id="163" name="Line"/>
          <p:cNvSpPr/>
          <p:nvPr/>
        </p:nvSpPr>
        <p:spPr>
          <a:xfrm flipH="1" flipV="1">
            <a:off x="8566892" y="5786889"/>
            <a:ext cx="4736522" cy="1"/>
          </a:xfrm>
          <a:prstGeom prst="line">
            <a:avLst/>
          </a:prstGeom>
          <a:ln w="1270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64" name="Input"/>
          <p:cNvSpPr txBox="1"/>
          <p:nvPr/>
        </p:nvSpPr>
        <p:spPr>
          <a:xfrm>
            <a:off x="10038821" y="2724153"/>
            <a:ext cx="3008631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Input</a:t>
            </a:r>
          </a:p>
        </p:txBody>
      </p:sp>
      <p:sp>
        <p:nvSpPr>
          <p:cNvPr id="165" name="Questions"/>
          <p:cNvSpPr txBox="1"/>
          <p:nvPr/>
        </p:nvSpPr>
        <p:spPr>
          <a:xfrm>
            <a:off x="1734551" y="6652005"/>
            <a:ext cx="3558541" cy="99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Questions</a:t>
            </a:r>
          </a:p>
        </p:txBody>
      </p:sp>
      <p:sp>
        <p:nvSpPr>
          <p:cNvPr id="166" name="Line"/>
          <p:cNvSpPr/>
          <p:nvPr/>
        </p:nvSpPr>
        <p:spPr>
          <a:xfrm>
            <a:off x="8802671" y="4792231"/>
            <a:ext cx="4736521" cy="1"/>
          </a:xfrm>
          <a:prstGeom prst="line">
            <a:avLst/>
          </a:prstGeom>
          <a:ln w="1270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67" name="Output"/>
          <p:cNvSpPr txBox="1"/>
          <p:nvPr/>
        </p:nvSpPr>
        <p:spPr>
          <a:xfrm>
            <a:off x="9258462" y="5976868"/>
            <a:ext cx="4044951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Output</a:t>
            </a:r>
          </a:p>
        </p:txBody>
      </p:sp>
      <p:sp>
        <p:nvSpPr>
          <p:cNvPr id="168" name="Marketing Campaigns"/>
          <p:cNvSpPr txBox="1"/>
          <p:nvPr/>
        </p:nvSpPr>
        <p:spPr>
          <a:xfrm>
            <a:off x="1828342" y="7798056"/>
            <a:ext cx="7609333" cy="99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Marketing Campaigns</a:t>
            </a:r>
          </a:p>
        </p:txBody>
      </p:sp>
      <p:sp>
        <p:nvSpPr>
          <p:cNvPr id="169" name="Summarising Text"/>
          <p:cNvSpPr txBox="1"/>
          <p:nvPr/>
        </p:nvSpPr>
        <p:spPr>
          <a:xfrm>
            <a:off x="1866474" y="8944107"/>
            <a:ext cx="6183631" cy="99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Summarising Text</a:t>
            </a:r>
          </a:p>
        </p:txBody>
      </p:sp>
      <p:sp>
        <p:nvSpPr>
          <p:cNvPr id="170" name="GEMINI"/>
          <p:cNvSpPr txBox="1"/>
          <p:nvPr/>
        </p:nvSpPr>
        <p:spPr>
          <a:xfrm>
            <a:off x="19965177" y="3914638"/>
            <a:ext cx="2766823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GEMINI</a:t>
            </a:r>
          </a:p>
        </p:txBody>
      </p:sp>
      <p:sp>
        <p:nvSpPr>
          <p:cNvPr id="171" name="GPT"/>
          <p:cNvSpPr txBox="1"/>
          <p:nvPr/>
        </p:nvSpPr>
        <p:spPr>
          <a:xfrm>
            <a:off x="19995843" y="2792071"/>
            <a:ext cx="1623823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GPT</a:t>
            </a:r>
          </a:p>
        </p:txBody>
      </p:sp>
      <p:sp>
        <p:nvSpPr>
          <p:cNvPr id="172" name="Assistance"/>
          <p:cNvSpPr txBox="1"/>
          <p:nvPr/>
        </p:nvSpPr>
        <p:spPr>
          <a:xfrm>
            <a:off x="1863986" y="10090158"/>
            <a:ext cx="3811525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Assistance</a:t>
            </a:r>
          </a:p>
        </p:txBody>
      </p:sp>
      <p:sp>
        <p:nvSpPr>
          <p:cNvPr id="173" name="LLAMA"/>
          <p:cNvSpPr txBox="1"/>
          <p:nvPr/>
        </p:nvSpPr>
        <p:spPr>
          <a:xfrm>
            <a:off x="19753694" y="5947093"/>
            <a:ext cx="2612899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LLAMA</a:t>
            </a:r>
          </a:p>
        </p:txBody>
      </p:sp>
      <p:sp>
        <p:nvSpPr>
          <p:cNvPr id="174" name="MISTRAL"/>
          <p:cNvSpPr txBox="1"/>
          <p:nvPr/>
        </p:nvSpPr>
        <p:spPr>
          <a:xfrm>
            <a:off x="19675617" y="6925742"/>
            <a:ext cx="3345943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MISTRAL</a:t>
            </a:r>
          </a:p>
        </p:txBody>
      </p:sp>
      <p:sp>
        <p:nvSpPr>
          <p:cNvPr id="175" name="Multi Modal"/>
          <p:cNvSpPr txBox="1"/>
          <p:nvPr/>
        </p:nvSpPr>
        <p:spPr>
          <a:xfrm>
            <a:off x="18339526" y="9402710"/>
            <a:ext cx="4123183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Multi Modal</a:t>
            </a:r>
          </a:p>
        </p:txBody>
      </p:sp>
      <p:sp>
        <p:nvSpPr>
          <p:cNvPr id="176" name="Images"/>
          <p:cNvSpPr txBox="1"/>
          <p:nvPr/>
        </p:nvSpPr>
        <p:spPr>
          <a:xfrm>
            <a:off x="11593283" y="9402710"/>
            <a:ext cx="259842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Images</a:t>
            </a:r>
          </a:p>
        </p:txBody>
      </p:sp>
      <p:sp>
        <p:nvSpPr>
          <p:cNvPr id="177" name="Videos"/>
          <p:cNvSpPr txBox="1"/>
          <p:nvPr/>
        </p:nvSpPr>
        <p:spPr>
          <a:xfrm>
            <a:off x="14858718" y="9402710"/>
            <a:ext cx="2414779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Videos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click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nodeType="clickEffect" presetSubtype="0" presetID="1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nodeType="clickEffect" presetSubtype="0" presetID="1" grpId="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nodeType="clickEffect" presetSubtype="0" presetID="1" grpId="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Class="entr" nodeType="clickEffect" presetSubtype="0" presetID="1" grpId="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Class="entr" nodeType="clickEffect" presetSubtype="0" presetID="1" grpId="1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Class="entr" nodeType="clickEffect" presetSubtype="0" presetID="1" grpId="1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Class="entr" nodeType="clickEffect" presetSubtype="0" presetID="1" grpId="1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Class="entr" nodeType="clickEffect" presetSubtype="0" presetID="1" grpId="1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Class="entr" nodeType="clickEffect" presetSubtype="0" presetID="1" grpId="1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Class="entr" nodeType="clickEffect" presetSubtype="0" presetID="1" grpId="1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Class="entr" nodeType="clickEffect" presetSubtype="0" presetID="1" grpId="1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Class="entr" nodeType="clickEffect" presetSubtype="0" presetID="1" grpId="1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Class="entr" nodeType="clickEffect" presetSubtype="0" presetID="1" grpId="1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4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61" grpId="1"/>
      <p:bldP build="whole" bldLvl="1" animBg="1" rev="0" advAuto="0" spid="170" grpId="9"/>
      <p:bldP build="whole" bldLvl="1" animBg="1" rev="0" advAuto="0" spid="172" grpId="15"/>
      <p:bldP build="whole" bldLvl="1" animBg="1" rev="0" advAuto="0" spid="176" grpId="16"/>
      <p:bldP build="whole" bldLvl="1" animBg="1" rev="0" advAuto="0" spid="168" grpId="13"/>
      <p:bldP build="whole" bldLvl="1" animBg="1" rev="0" advAuto="0" spid="165" grpId="12"/>
      <p:bldP build="whole" bldLvl="1" animBg="1" rev="0" advAuto="0" spid="163" grpId="6"/>
      <p:bldP build="whole" bldLvl="1" animBg="1" rev="0" advAuto="0" spid="160" grpId="2"/>
      <p:bldP build="whole" bldLvl="1" animBg="1" rev="0" advAuto="0" spid="162" grpId="3"/>
      <p:bldP build="whole" bldLvl="1" animBg="1" rev="0" advAuto="0" spid="173" grpId="10"/>
      <p:bldP build="whole" bldLvl="1" animBg="1" rev="0" advAuto="0" spid="167" grpId="7"/>
      <p:bldP build="whole" bldLvl="1" animBg="1" rev="0" advAuto="0" spid="171" grpId="8"/>
      <p:bldP build="whole" bldLvl="1" animBg="1" rev="0" advAuto="0" spid="175" grpId="18"/>
      <p:bldP build="whole" bldLvl="1" animBg="1" rev="0" advAuto="0" spid="174" grpId="11"/>
      <p:bldP build="whole" bldLvl="1" animBg="1" rev="0" advAuto="0" spid="169" grpId="14"/>
      <p:bldP build="whole" bldLvl="1" animBg="1" rev="0" advAuto="0" spid="177" grpId="17"/>
      <p:bldP build="whole" bldLvl="1" animBg="1" rev="0" advAuto="0" spid="164" grpId="4"/>
      <p:bldP build="whole" bldLvl="1" animBg="1" rev="0" advAuto="0" spid="166" grpId="5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Streamlit"/>
          <p:cNvSpPr txBox="1"/>
          <p:nvPr/>
        </p:nvSpPr>
        <p:spPr>
          <a:xfrm>
            <a:off x="7100570" y="5325109"/>
            <a:ext cx="10182861" cy="306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20000"/>
            </a:lvl1pPr>
          </a:lstStyle>
          <a:p>
            <a:pPr/>
            <a:r>
              <a:t>Streamlit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79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romptTemplate"/>
          <p:cNvSpPr txBox="1"/>
          <p:nvPr/>
        </p:nvSpPr>
        <p:spPr>
          <a:xfrm>
            <a:off x="2793999" y="5325109"/>
            <a:ext cx="18796001" cy="306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20000"/>
            </a:lvl1pPr>
          </a:lstStyle>
          <a:p>
            <a:pPr/>
            <a:r>
              <a:t>PromptTemplate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81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Chains"/>
          <p:cNvSpPr txBox="1"/>
          <p:nvPr/>
        </p:nvSpPr>
        <p:spPr>
          <a:xfrm>
            <a:off x="7393939" y="2607309"/>
            <a:ext cx="7970521" cy="306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20000"/>
            </a:lvl1pPr>
          </a:lstStyle>
          <a:p>
            <a:pPr/>
            <a:r>
              <a:t>Chains</a:t>
            </a:r>
          </a:p>
        </p:txBody>
      </p:sp>
      <p:sp>
        <p:nvSpPr>
          <p:cNvPr id="184" name="prompt"/>
          <p:cNvSpPr txBox="1"/>
          <p:nvPr/>
        </p:nvSpPr>
        <p:spPr>
          <a:xfrm>
            <a:off x="7734015" y="6825370"/>
            <a:ext cx="3409189" cy="12796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8000"/>
            </a:lvl1pPr>
          </a:lstStyle>
          <a:p>
            <a:pPr/>
            <a:r>
              <a:t>prompt</a:t>
            </a:r>
          </a:p>
        </p:txBody>
      </p:sp>
      <p:sp>
        <p:nvSpPr>
          <p:cNvPr id="185" name="LLM"/>
          <p:cNvSpPr txBox="1"/>
          <p:nvPr/>
        </p:nvSpPr>
        <p:spPr>
          <a:xfrm>
            <a:off x="12259688" y="6825370"/>
            <a:ext cx="2129029" cy="12796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8000"/>
            </a:lvl1pPr>
          </a:lstStyle>
          <a:p>
            <a:pPr/>
            <a:r>
              <a:t>LLM</a:t>
            </a:r>
          </a:p>
        </p:txBody>
      </p:sp>
      <p:sp>
        <p:nvSpPr>
          <p:cNvPr id="186" name="|"/>
          <p:cNvSpPr txBox="1"/>
          <p:nvPr/>
        </p:nvSpPr>
        <p:spPr>
          <a:xfrm>
            <a:off x="11531520" y="5614923"/>
            <a:ext cx="339853" cy="2486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b="0" sz="8000"/>
            </a:pPr>
            <a:br/>
            <a:r>
              <a:t>|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85" grpId="4"/>
      <p:bldP build="whole" bldLvl="1" animBg="1" rev="0" advAuto="0" spid="184" grpId="2"/>
      <p:bldP build="whole" bldLvl="1" animBg="1" rev="0" advAuto="0" spid="183" grpId="1"/>
      <p:bldP build="whole" bldLvl="1" animBg="1" rev="0" advAuto="0" spid="186" grpId="3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Simple Sequential Chain"/>
          <p:cNvSpPr txBox="1"/>
          <p:nvPr/>
        </p:nvSpPr>
        <p:spPr>
          <a:xfrm>
            <a:off x="690379" y="780873"/>
            <a:ext cx="14016991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Simple Sequential Chain</a:t>
            </a:r>
          </a:p>
        </p:txBody>
      </p:sp>
      <p:sp>
        <p:nvSpPr>
          <p:cNvPr id="189" name="Rectangle"/>
          <p:cNvSpPr/>
          <p:nvPr/>
        </p:nvSpPr>
        <p:spPr>
          <a:xfrm>
            <a:off x="13713679" y="4476631"/>
            <a:ext cx="8480462" cy="6407832"/>
          </a:xfrm>
          <a:prstGeom prst="rect">
            <a:avLst/>
          </a:prstGeom>
          <a:ln w="63500">
            <a:solidFill>
              <a:schemeClr val="accent4">
                <a:hueOff val="-1081314"/>
                <a:satOff val="4338"/>
                <a:lumOff val="-8931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190" name="Rectangle"/>
          <p:cNvSpPr/>
          <p:nvPr/>
        </p:nvSpPr>
        <p:spPr>
          <a:xfrm>
            <a:off x="2987971" y="4476631"/>
            <a:ext cx="8480462" cy="6407832"/>
          </a:xfrm>
          <a:prstGeom prst="rect">
            <a:avLst/>
          </a:prstGeom>
          <a:ln w="63500">
            <a:solidFill>
              <a:schemeClr val="accent1"/>
            </a:solidFill>
            <a:miter lim="400000"/>
          </a:ln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191" name="INPUT"/>
          <p:cNvSpPr/>
          <p:nvPr/>
        </p:nvSpPr>
        <p:spPr>
          <a:xfrm>
            <a:off x="2002291" y="7239000"/>
            <a:ext cx="2079560" cy="1178172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INPUT</a:t>
            </a:r>
          </a:p>
        </p:txBody>
      </p:sp>
      <p:sp>
        <p:nvSpPr>
          <p:cNvPr id="192" name="OUTPUT"/>
          <p:cNvSpPr/>
          <p:nvPr/>
        </p:nvSpPr>
        <p:spPr>
          <a:xfrm>
            <a:off x="10872700" y="7239000"/>
            <a:ext cx="3360939" cy="1178172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OUTPUT</a:t>
            </a:r>
          </a:p>
        </p:txBody>
      </p:sp>
      <p:sp>
        <p:nvSpPr>
          <p:cNvPr id="193" name="OUTPUT"/>
          <p:cNvSpPr/>
          <p:nvPr/>
        </p:nvSpPr>
        <p:spPr>
          <a:xfrm>
            <a:off x="20736044" y="7091461"/>
            <a:ext cx="3360939" cy="1178172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OUTPUT</a:t>
            </a:r>
          </a:p>
        </p:txBody>
      </p:sp>
      <p:sp>
        <p:nvSpPr>
          <p:cNvPr id="194" name="prompt"/>
          <p:cNvSpPr txBox="1"/>
          <p:nvPr/>
        </p:nvSpPr>
        <p:spPr>
          <a:xfrm>
            <a:off x="4493737" y="7479597"/>
            <a:ext cx="1761745" cy="696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prompt</a:t>
            </a:r>
          </a:p>
        </p:txBody>
      </p:sp>
      <p:sp>
        <p:nvSpPr>
          <p:cNvPr id="195" name="LLM"/>
          <p:cNvSpPr txBox="1"/>
          <p:nvPr/>
        </p:nvSpPr>
        <p:spPr>
          <a:xfrm>
            <a:off x="6667370" y="7479597"/>
            <a:ext cx="1121665" cy="696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LLM</a:t>
            </a:r>
          </a:p>
        </p:txBody>
      </p:sp>
      <p:sp>
        <p:nvSpPr>
          <p:cNvPr id="196" name="Parser"/>
          <p:cNvSpPr txBox="1"/>
          <p:nvPr/>
        </p:nvSpPr>
        <p:spPr>
          <a:xfrm>
            <a:off x="8091187" y="7525511"/>
            <a:ext cx="1581405" cy="6969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Parser</a:t>
            </a:r>
          </a:p>
        </p:txBody>
      </p:sp>
      <p:sp>
        <p:nvSpPr>
          <p:cNvPr id="197" name="|"/>
          <p:cNvSpPr txBox="1"/>
          <p:nvPr/>
        </p:nvSpPr>
        <p:spPr>
          <a:xfrm>
            <a:off x="6347888" y="6817655"/>
            <a:ext cx="227077" cy="1306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b="0" sz="4000"/>
            </a:pPr>
            <a:br/>
            <a:r>
              <a:t>|</a:t>
            </a:r>
          </a:p>
        </p:txBody>
      </p:sp>
      <p:sp>
        <p:nvSpPr>
          <p:cNvPr id="198" name="|"/>
          <p:cNvSpPr txBox="1"/>
          <p:nvPr/>
        </p:nvSpPr>
        <p:spPr>
          <a:xfrm>
            <a:off x="7826572" y="6817655"/>
            <a:ext cx="227077" cy="1306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b="0" sz="4000"/>
            </a:pPr>
            <a:br/>
            <a:r>
              <a:t>|</a:t>
            </a:r>
          </a:p>
        </p:txBody>
      </p:sp>
      <p:sp>
        <p:nvSpPr>
          <p:cNvPr id="199" name="prompt"/>
          <p:cNvSpPr txBox="1"/>
          <p:nvPr/>
        </p:nvSpPr>
        <p:spPr>
          <a:xfrm>
            <a:off x="15039636" y="7430468"/>
            <a:ext cx="1761745" cy="696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prompt</a:t>
            </a:r>
          </a:p>
        </p:txBody>
      </p:sp>
      <p:sp>
        <p:nvSpPr>
          <p:cNvPr id="200" name="LLM"/>
          <p:cNvSpPr txBox="1"/>
          <p:nvPr/>
        </p:nvSpPr>
        <p:spPr>
          <a:xfrm>
            <a:off x="17213269" y="7430468"/>
            <a:ext cx="1121665" cy="696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LLM</a:t>
            </a:r>
          </a:p>
        </p:txBody>
      </p:sp>
      <p:sp>
        <p:nvSpPr>
          <p:cNvPr id="201" name="Parser"/>
          <p:cNvSpPr txBox="1"/>
          <p:nvPr/>
        </p:nvSpPr>
        <p:spPr>
          <a:xfrm>
            <a:off x="18637085" y="7476383"/>
            <a:ext cx="1581405" cy="696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Parser</a:t>
            </a:r>
          </a:p>
        </p:txBody>
      </p:sp>
      <p:sp>
        <p:nvSpPr>
          <p:cNvPr id="202" name="|"/>
          <p:cNvSpPr txBox="1"/>
          <p:nvPr/>
        </p:nvSpPr>
        <p:spPr>
          <a:xfrm>
            <a:off x="16893786" y="6768527"/>
            <a:ext cx="227077" cy="1306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b="0" sz="4000"/>
            </a:pPr>
            <a:br/>
            <a:r>
              <a:t>|</a:t>
            </a:r>
          </a:p>
        </p:txBody>
      </p:sp>
      <p:sp>
        <p:nvSpPr>
          <p:cNvPr id="203" name="|"/>
          <p:cNvSpPr txBox="1"/>
          <p:nvPr/>
        </p:nvSpPr>
        <p:spPr>
          <a:xfrm>
            <a:off x="18372471" y="6768527"/>
            <a:ext cx="227077" cy="1306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b="0" sz="4000"/>
            </a:pPr>
            <a:br/>
            <a:r>
              <a:t>|</a:t>
            </a:r>
          </a:p>
        </p:txBody>
      </p:sp>
      <p:sp>
        <p:nvSpPr>
          <p:cNvPr id="204" name="Chain 1"/>
          <p:cNvSpPr txBox="1"/>
          <p:nvPr/>
        </p:nvSpPr>
        <p:spPr>
          <a:xfrm>
            <a:off x="6300594" y="5308904"/>
            <a:ext cx="1855217" cy="696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Chain 1</a:t>
            </a:r>
          </a:p>
        </p:txBody>
      </p:sp>
      <p:sp>
        <p:nvSpPr>
          <p:cNvPr id="205" name="Chain 2"/>
          <p:cNvSpPr txBox="1"/>
          <p:nvPr/>
        </p:nvSpPr>
        <p:spPr>
          <a:xfrm>
            <a:off x="16846493" y="5308904"/>
            <a:ext cx="1855217" cy="696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Chain 2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click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nodeType="clickEffect" presetSubtype="0" presetID="1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nodeType="clickEffect" presetSubtype="0" presetID="1" grpId="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nodeType="clickEffect" presetSubtype="0" presetID="1" grpId="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Class="entr" nodeType="clickEffect" presetSubtype="0" presetID="1" grpId="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Class="entr" nodeType="clickEffect" presetSubtype="0" presetID="1" grpId="1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Class="entr" nodeType="clickEffect" presetSubtype="0" presetID="1" grpId="1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Class="entr" nodeType="clickEffect" presetSubtype="0" presetID="1" grpId="1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Class="entr" nodeType="clickEffect" presetSubtype="0" presetID="1" grpId="1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Class="entr" nodeType="clickEffect" presetSubtype="0" presetID="1" grpId="1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Class="entr" nodeType="clickEffect" presetSubtype="0" presetID="1" grpId="1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Class="entr" nodeType="clickEffect" presetSubtype="0" presetID="1" grpId="1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Class="entr" nodeType="clickEffect" presetSubtype="0" presetID="1" grpId="1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Class="entr" nodeType="clickEffect" presetSubtype="0" presetID="1" grpId="1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4" fill="hold"/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95" grpId="6"/>
      <p:bldP build="whole" bldLvl="1" animBg="1" rev="0" advAuto="0" spid="190" grpId="2"/>
      <p:bldP build="whole" bldLvl="1" animBg="1" rev="0" advAuto="0" spid="205" grpId="10"/>
      <p:bldP build="whole" bldLvl="1" animBg="1" rev="0" advAuto="0" spid="201" grpId="15"/>
      <p:bldP build="whole" bldLvl="1" animBg="1" rev="0" advAuto="0" spid="197" grpId="5"/>
      <p:bldP build="whole" bldLvl="1" animBg="1" rev="0" advAuto="0" spid="192" grpId="17"/>
      <p:bldP build="whole" bldLvl="1" animBg="1" rev="0" advAuto="0" spid="193" grpId="18"/>
      <p:bldP build="whole" bldLvl="1" animBg="1" rev="0" advAuto="0" spid="199" grpId="11"/>
      <p:bldP build="whole" bldLvl="1" animBg="1" rev="0" advAuto="0" spid="194" grpId="4"/>
      <p:bldP build="whole" bldLvl="1" animBg="1" rev="0" advAuto="0" spid="202" grpId="12"/>
      <p:bldP build="whole" bldLvl="1" animBg="1" rev="0" advAuto="0" spid="196" grpId="8"/>
      <p:bldP build="whole" bldLvl="1" animBg="1" rev="0" advAuto="0" spid="200" grpId="13"/>
      <p:bldP build="whole" bldLvl="1" animBg="1" rev="0" advAuto="0" spid="204" grpId="3"/>
      <p:bldP build="whole" bldLvl="1" animBg="1" rev="0" advAuto="0" spid="191" grpId="16"/>
      <p:bldP build="whole" bldLvl="1" animBg="1" rev="0" advAuto="0" spid="203" grpId="14"/>
      <p:bldP build="whole" bldLvl="1" animBg="1" rev="0" advAuto="0" spid="189" grpId="9"/>
      <p:bldP build="whole" bldLvl="1" animBg="1" rev="0" advAuto="0" spid="198" grpId="7"/>
      <p:bldP build="whole" bldLvl="1" animBg="1" rev="0" advAuto="0" spid="188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Sequential Chain"/>
          <p:cNvSpPr txBox="1"/>
          <p:nvPr/>
        </p:nvSpPr>
        <p:spPr>
          <a:xfrm>
            <a:off x="656204" y="780873"/>
            <a:ext cx="9758681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Sequential Chain</a:t>
            </a:r>
          </a:p>
        </p:txBody>
      </p:sp>
      <p:sp>
        <p:nvSpPr>
          <p:cNvPr id="208" name="Rectangle"/>
          <p:cNvSpPr/>
          <p:nvPr/>
        </p:nvSpPr>
        <p:spPr>
          <a:xfrm>
            <a:off x="13713679" y="4476631"/>
            <a:ext cx="8480462" cy="6407832"/>
          </a:xfrm>
          <a:prstGeom prst="rect">
            <a:avLst/>
          </a:prstGeom>
          <a:ln w="63500">
            <a:solidFill>
              <a:schemeClr val="accent4">
                <a:hueOff val="-1081314"/>
                <a:satOff val="4338"/>
                <a:lumOff val="-8931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209" name="Rectangle"/>
          <p:cNvSpPr/>
          <p:nvPr/>
        </p:nvSpPr>
        <p:spPr>
          <a:xfrm>
            <a:off x="2987971" y="4476631"/>
            <a:ext cx="8480462" cy="6407832"/>
          </a:xfrm>
          <a:prstGeom prst="rect">
            <a:avLst/>
          </a:prstGeom>
          <a:ln w="63500">
            <a:solidFill>
              <a:schemeClr val="accent1"/>
            </a:solidFill>
            <a:miter lim="400000"/>
          </a:ln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210" name="INPUT"/>
          <p:cNvSpPr/>
          <p:nvPr/>
        </p:nvSpPr>
        <p:spPr>
          <a:xfrm>
            <a:off x="2002291" y="7239000"/>
            <a:ext cx="2079560" cy="1178172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INPUT</a:t>
            </a:r>
          </a:p>
        </p:txBody>
      </p:sp>
      <p:sp>
        <p:nvSpPr>
          <p:cNvPr id="211" name="OUTPUT"/>
          <p:cNvSpPr/>
          <p:nvPr/>
        </p:nvSpPr>
        <p:spPr>
          <a:xfrm>
            <a:off x="10872700" y="7239000"/>
            <a:ext cx="3360939" cy="1178172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OUTPUT</a:t>
            </a:r>
          </a:p>
        </p:txBody>
      </p:sp>
      <p:sp>
        <p:nvSpPr>
          <p:cNvPr id="212" name="OUTPUT 1"/>
          <p:cNvSpPr/>
          <p:nvPr/>
        </p:nvSpPr>
        <p:spPr>
          <a:xfrm>
            <a:off x="20772099" y="7091461"/>
            <a:ext cx="3360939" cy="1178172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OUTPUT 1</a:t>
            </a:r>
          </a:p>
        </p:txBody>
      </p:sp>
      <p:sp>
        <p:nvSpPr>
          <p:cNvPr id="213" name="prompt"/>
          <p:cNvSpPr txBox="1"/>
          <p:nvPr/>
        </p:nvSpPr>
        <p:spPr>
          <a:xfrm>
            <a:off x="4493737" y="7479597"/>
            <a:ext cx="1761745" cy="696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prompt</a:t>
            </a:r>
          </a:p>
        </p:txBody>
      </p:sp>
      <p:sp>
        <p:nvSpPr>
          <p:cNvPr id="214" name="LLM"/>
          <p:cNvSpPr txBox="1"/>
          <p:nvPr/>
        </p:nvSpPr>
        <p:spPr>
          <a:xfrm>
            <a:off x="6667370" y="7479597"/>
            <a:ext cx="1121665" cy="696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LLM</a:t>
            </a:r>
          </a:p>
        </p:txBody>
      </p:sp>
      <p:sp>
        <p:nvSpPr>
          <p:cNvPr id="215" name="Parser"/>
          <p:cNvSpPr txBox="1"/>
          <p:nvPr/>
        </p:nvSpPr>
        <p:spPr>
          <a:xfrm>
            <a:off x="8091187" y="7525511"/>
            <a:ext cx="1581405" cy="6969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Parser</a:t>
            </a:r>
          </a:p>
        </p:txBody>
      </p:sp>
      <p:sp>
        <p:nvSpPr>
          <p:cNvPr id="216" name="|"/>
          <p:cNvSpPr txBox="1"/>
          <p:nvPr/>
        </p:nvSpPr>
        <p:spPr>
          <a:xfrm>
            <a:off x="6347888" y="6817655"/>
            <a:ext cx="227077" cy="1306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b="0" sz="4000"/>
            </a:pPr>
            <a:br/>
            <a:r>
              <a:t>|</a:t>
            </a:r>
          </a:p>
        </p:txBody>
      </p:sp>
      <p:sp>
        <p:nvSpPr>
          <p:cNvPr id="217" name="|"/>
          <p:cNvSpPr txBox="1"/>
          <p:nvPr/>
        </p:nvSpPr>
        <p:spPr>
          <a:xfrm>
            <a:off x="7826572" y="6817655"/>
            <a:ext cx="227077" cy="1306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b="0" sz="4000"/>
            </a:pPr>
            <a:br/>
            <a:r>
              <a:t>|</a:t>
            </a:r>
          </a:p>
        </p:txBody>
      </p:sp>
      <p:sp>
        <p:nvSpPr>
          <p:cNvPr id="218" name="prompt"/>
          <p:cNvSpPr txBox="1"/>
          <p:nvPr/>
        </p:nvSpPr>
        <p:spPr>
          <a:xfrm>
            <a:off x="15039636" y="7430468"/>
            <a:ext cx="1761745" cy="696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prompt</a:t>
            </a:r>
          </a:p>
        </p:txBody>
      </p:sp>
      <p:sp>
        <p:nvSpPr>
          <p:cNvPr id="219" name="LLM"/>
          <p:cNvSpPr txBox="1"/>
          <p:nvPr/>
        </p:nvSpPr>
        <p:spPr>
          <a:xfrm>
            <a:off x="17213269" y="7430468"/>
            <a:ext cx="1121665" cy="696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LLM</a:t>
            </a:r>
          </a:p>
        </p:txBody>
      </p:sp>
      <p:sp>
        <p:nvSpPr>
          <p:cNvPr id="220" name="Parser"/>
          <p:cNvSpPr txBox="1"/>
          <p:nvPr/>
        </p:nvSpPr>
        <p:spPr>
          <a:xfrm>
            <a:off x="18637085" y="7476383"/>
            <a:ext cx="1581405" cy="696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Parser</a:t>
            </a:r>
          </a:p>
        </p:txBody>
      </p:sp>
      <p:sp>
        <p:nvSpPr>
          <p:cNvPr id="221" name="|"/>
          <p:cNvSpPr txBox="1"/>
          <p:nvPr/>
        </p:nvSpPr>
        <p:spPr>
          <a:xfrm>
            <a:off x="16893786" y="6768527"/>
            <a:ext cx="227077" cy="1306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b="0" sz="4000"/>
            </a:pPr>
            <a:br/>
            <a:r>
              <a:t>|</a:t>
            </a:r>
          </a:p>
        </p:txBody>
      </p:sp>
      <p:sp>
        <p:nvSpPr>
          <p:cNvPr id="222" name="|"/>
          <p:cNvSpPr txBox="1"/>
          <p:nvPr/>
        </p:nvSpPr>
        <p:spPr>
          <a:xfrm>
            <a:off x="18372471" y="6768527"/>
            <a:ext cx="227077" cy="1306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b="0" sz="4000"/>
            </a:pPr>
            <a:br/>
            <a:r>
              <a:t>|</a:t>
            </a:r>
          </a:p>
        </p:txBody>
      </p:sp>
      <p:sp>
        <p:nvSpPr>
          <p:cNvPr id="223" name="Chain 1"/>
          <p:cNvSpPr txBox="1"/>
          <p:nvPr/>
        </p:nvSpPr>
        <p:spPr>
          <a:xfrm>
            <a:off x="6300594" y="5308904"/>
            <a:ext cx="1855217" cy="696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Chain 1</a:t>
            </a:r>
          </a:p>
        </p:txBody>
      </p:sp>
      <p:sp>
        <p:nvSpPr>
          <p:cNvPr id="224" name="Chain 2"/>
          <p:cNvSpPr txBox="1"/>
          <p:nvPr/>
        </p:nvSpPr>
        <p:spPr>
          <a:xfrm>
            <a:off x="16846493" y="5308904"/>
            <a:ext cx="1855217" cy="696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Chain 2</a:t>
            </a:r>
          </a:p>
        </p:txBody>
      </p:sp>
      <p:sp>
        <p:nvSpPr>
          <p:cNvPr id="225" name="INPUT 2"/>
          <p:cNvSpPr/>
          <p:nvPr/>
        </p:nvSpPr>
        <p:spPr>
          <a:xfrm>
            <a:off x="12657498" y="8808220"/>
            <a:ext cx="2079560" cy="1178172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INPUT 2</a:t>
            </a:r>
          </a:p>
        </p:txBody>
      </p:sp>
      <p:sp>
        <p:nvSpPr>
          <p:cNvPr id="226" name="OUTPUT 2"/>
          <p:cNvSpPr/>
          <p:nvPr/>
        </p:nvSpPr>
        <p:spPr>
          <a:xfrm>
            <a:off x="20772099" y="8808220"/>
            <a:ext cx="3360939" cy="1178172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OUTPUT 2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click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nodeType="clickEffect" presetSubtype="0" presetID="1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nodeType="clickEffect" presetSubtype="0" presetID="1" grpId="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nodeType="clickEffect" presetSubtype="0" presetID="1" grpId="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Class="entr" nodeType="clickEffect" presetSubtype="0" presetID="1" grpId="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Class="entr" nodeType="clickEffect" presetSubtype="0" presetID="1" grpId="1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Class="entr" nodeType="clickEffect" presetSubtype="0" presetID="1" grpId="1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Class="entr" nodeType="clickEffect" presetSubtype="0" presetID="1" grpId="1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Class="entr" nodeType="clickEffect" presetSubtype="0" presetID="1" grpId="1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Class="entr" nodeType="clickEffect" presetSubtype="0" presetID="1" grpId="1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Class="entr" nodeType="clickEffect" presetSubtype="0" presetID="1" grpId="1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Class="entr" nodeType="clickEffect" presetSubtype="0" presetID="1" grpId="1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Class="entr" nodeType="clickEffect" presetSubtype="0" presetID="1" grpId="1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Class="entr" nodeType="clickEffect" presetSubtype="0" presetID="1" grpId="1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4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Class="entr" nodeType="clickEffect" presetSubtype="0" presetID="1" grpId="1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Class="entr" nodeType="clickEffect" presetSubtype="0" presetID="1" grpId="2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15" grpId="8"/>
      <p:bldP build="whole" bldLvl="1" animBg="1" rev="0" advAuto="0" spid="214" grpId="6"/>
      <p:bldP build="whole" bldLvl="1" animBg="1" rev="0" advAuto="0" spid="208" grpId="9"/>
      <p:bldP build="whole" bldLvl="1" animBg="1" rev="0" advAuto="0" spid="224" grpId="10"/>
      <p:bldP build="whole" bldLvl="1" animBg="1" rev="0" advAuto="0" spid="219" grpId="13"/>
      <p:bldP build="whole" bldLvl="1" animBg="1" rev="0" advAuto="0" spid="226" grpId="20"/>
      <p:bldP build="whole" bldLvl="1" animBg="1" rev="0" advAuto="0" spid="213" grpId="4"/>
      <p:bldP build="whole" bldLvl="1" animBg="1" rev="0" advAuto="0" spid="218" grpId="11"/>
      <p:bldP build="whole" bldLvl="1" animBg="1" rev="0" advAuto="0" spid="209" grpId="2"/>
      <p:bldP build="whole" bldLvl="1" animBg="1" rev="0" advAuto="0" spid="207" grpId="1"/>
      <p:bldP build="whole" bldLvl="1" animBg="1" rev="0" advAuto="0" spid="221" grpId="12"/>
      <p:bldP build="whole" bldLvl="1" animBg="1" rev="0" advAuto="0" spid="222" grpId="14"/>
      <p:bldP build="whole" bldLvl="1" animBg="1" rev="0" advAuto="0" spid="216" grpId="5"/>
      <p:bldP build="whole" bldLvl="1" animBg="1" rev="0" advAuto="0" spid="211" grpId="17"/>
      <p:bldP build="whole" bldLvl="1" animBg="1" rev="0" advAuto="0" spid="212" grpId="19"/>
      <p:bldP build="whole" bldLvl="1" animBg="1" rev="0" advAuto="0" spid="217" grpId="7"/>
      <p:bldP build="whole" bldLvl="1" animBg="1" rev="0" advAuto="0" spid="223" grpId="3"/>
      <p:bldP build="whole" bldLvl="1" animBg="1" rev="0" advAuto="0" spid="225" grpId="18"/>
      <p:bldP build="whole" bldLvl="1" animBg="1" rev="0" advAuto="0" spid="210" grpId="16"/>
      <p:bldP build="whole" bldLvl="1" animBg="1" rev="0" advAuto="0" spid="220" grpId="15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Chat History"/>
          <p:cNvSpPr txBox="1"/>
          <p:nvPr/>
        </p:nvSpPr>
        <p:spPr>
          <a:xfrm>
            <a:off x="5055870" y="5325109"/>
            <a:ext cx="14272261" cy="306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20000"/>
            </a:lvl1pPr>
          </a:lstStyle>
          <a:p>
            <a:pPr/>
            <a:r>
              <a:t>Chat History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28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Query"/>
          <p:cNvSpPr txBox="1"/>
          <p:nvPr/>
        </p:nvSpPr>
        <p:spPr>
          <a:xfrm>
            <a:off x="3062649" y="4975540"/>
            <a:ext cx="2288287" cy="10192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6000"/>
            </a:lvl1pPr>
          </a:lstStyle>
          <a:p>
            <a:pPr/>
            <a:r>
              <a:t>Query</a:t>
            </a:r>
          </a:p>
        </p:txBody>
      </p:sp>
      <p:sp>
        <p:nvSpPr>
          <p:cNvPr id="231" name="Document"/>
          <p:cNvSpPr txBox="1"/>
          <p:nvPr/>
        </p:nvSpPr>
        <p:spPr>
          <a:xfrm>
            <a:off x="21284499" y="10076108"/>
            <a:ext cx="2625853" cy="709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000"/>
            </a:lvl1pPr>
          </a:lstStyle>
          <a:p>
            <a:pPr/>
            <a:r>
              <a:t>Document</a:t>
            </a:r>
          </a:p>
        </p:txBody>
      </p:sp>
      <p:sp>
        <p:nvSpPr>
          <p:cNvPr id="232" name="Line"/>
          <p:cNvSpPr/>
          <p:nvPr/>
        </p:nvSpPr>
        <p:spPr>
          <a:xfrm flipH="1">
            <a:off x="19344894" y="9035076"/>
            <a:ext cx="1879830" cy="1495500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33" name="Text Document"/>
          <p:cNvSpPr/>
          <p:nvPr/>
        </p:nvSpPr>
        <p:spPr>
          <a:xfrm>
            <a:off x="16859899" y="10643659"/>
            <a:ext cx="1604049" cy="20772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234" name="Text Document"/>
          <p:cNvSpPr/>
          <p:nvPr/>
        </p:nvSpPr>
        <p:spPr>
          <a:xfrm>
            <a:off x="21550298" y="7361818"/>
            <a:ext cx="2094256" cy="27120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7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235" name="Text Document"/>
          <p:cNvSpPr/>
          <p:nvPr/>
        </p:nvSpPr>
        <p:spPr>
          <a:xfrm>
            <a:off x="18655050" y="10741882"/>
            <a:ext cx="1531314" cy="19830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236" name="Text Document"/>
          <p:cNvSpPr/>
          <p:nvPr/>
        </p:nvSpPr>
        <p:spPr>
          <a:xfrm>
            <a:off x="15064750" y="10643659"/>
            <a:ext cx="1604048" cy="20772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237" name="Line"/>
          <p:cNvSpPr/>
          <p:nvPr/>
        </p:nvSpPr>
        <p:spPr>
          <a:xfrm flipH="1" flipV="1">
            <a:off x="5412353" y="6081024"/>
            <a:ext cx="3228509" cy="1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38" name="Embedding…"/>
          <p:cNvSpPr txBox="1"/>
          <p:nvPr/>
        </p:nvSpPr>
        <p:spPr>
          <a:xfrm>
            <a:off x="9401135" y="4891211"/>
            <a:ext cx="4024885" cy="19090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b="0" sz="6000"/>
            </a:pPr>
            <a:r>
              <a:t>Embedding</a:t>
            </a:r>
          </a:p>
          <a:p>
            <a:pPr>
              <a:defRPr b="0" sz="6000"/>
            </a:pPr>
            <a:r>
              <a:t>Model</a:t>
            </a:r>
          </a:p>
        </p:txBody>
      </p:sp>
      <p:sp>
        <p:nvSpPr>
          <p:cNvPr id="239" name="Vector…"/>
          <p:cNvSpPr/>
          <p:nvPr/>
        </p:nvSpPr>
        <p:spPr>
          <a:xfrm>
            <a:off x="19416103" y="3317289"/>
            <a:ext cx="2411862" cy="31839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21600" fill="norm" stroke="1" extrusionOk="0">
                <a:moveTo>
                  <a:pt x="9839" y="0"/>
                </a:moveTo>
                <a:cubicBezTo>
                  <a:pt x="7321" y="0"/>
                  <a:pt x="4803" y="241"/>
                  <a:pt x="2882" y="724"/>
                </a:cubicBezTo>
                <a:cubicBezTo>
                  <a:pt x="-961" y="1689"/>
                  <a:pt x="-961" y="3255"/>
                  <a:pt x="2882" y="4221"/>
                </a:cubicBezTo>
                <a:cubicBezTo>
                  <a:pt x="6724" y="5186"/>
                  <a:pt x="12954" y="5186"/>
                  <a:pt x="16796" y="4221"/>
                </a:cubicBezTo>
                <a:cubicBezTo>
                  <a:pt x="20639" y="3255"/>
                  <a:pt x="20639" y="1689"/>
                  <a:pt x="16796" y="724"/>
                </a:cubicBezTo>
                <a:cubicBezTo>
                  <a:pt x="14875" y="241"/>
                  <a:pt x="12357" y="0"/>
                  <a:pt x="9839" y="0"/>
                </a:cubicBezTo>
                <a:close/>
                <a:moveTo>
                  <a:pt x="0" y="3593"/>
                </a:moveTo>
                <a:lnTo>
                  <a:pt x="0" y="18993"/>
                </a:lnTo>
                <a:cubicBezTo>
                  <a:pt x="0" y="20356"/>
                  <a:pt x="4405" y="21600"/>
                  <a:pt x="9839" y="21600"/>
                </a:cubicBezTo>
                <a:cubicBezTo>
                  <a:pt x="15273" y="21600"/>
                  <a:pt x="19678" y="20356"/>
                  <a:pt x="19678" y="18993"/>
                </a:cubicBezTo>
                <a:lnTo>
                  <a:pt x="19678" y="3593"/>
                </a:lnTo>
                <a:cubicBezTo>
                  <a:pt x="18279" y="4621"/>
                  <a:pt x="14401" y="5357"/>
                  <a:pt x="9839" y="5357"/>
                </a:cubicBezTo>
                <a:cubicBezTo>
                  <a:pt x="5277" y="5357"/>
                  <a:pt x="1399" y="4621"/>
                  <a:pt x="0" y="3593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r>
              <a:t>Vector</a:t>
            </a:r>
          </a:p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r>
              <a:t>Store</a:t>
            </a:r>
          </a:p>
        </p:txBody>
      </p:sp>
      <p:sp>
        <p:nvSpPr>
          <p:cNvPr id="240" name="Line"/>
          <p:cNvSpPr/>
          <p:nvPr/>
        </p:nvSpPr>
        <p:spPr>
          <a:xfrm flipV="1">
            <a:off x="17422316" y="5990256"/>
            <a:ext cx="1748215" cy="966552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41" name="[-0.1848554  -0.17605719…"/>
          <p:cNvSpPr txBox="1"/>
          <p:nvPr/>
        </p:nvSpPr>
        <p:spPr>
          <a:xfrm>
            <a:off x="12967609" y="1963287"/>
            <a:ext cx="4746118" cy="19197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b="0"/>
            </a:pPr>
            <a:r>
              <a:t>[-0.1848554  -0.17605719  </a:t>
            </a:r>
          </a:p>
          <a:p>
            <a:pPr>
              <a:defRPr b="0"/>
            </a:pPr>
            <a:r>
              <a:t>0.18991971  0.4797751 </a:t>
            </a:r>
          </a:p>
          <a:p>
            <a:pPr>
              <a:defRPr b="0"/>
            </a:pPr>
            <a:r>
              <a:t> 0.04560479  0.00489019  </a:t>
            </a:r>
          </a:p>
          <a:p>
            <a:pPr>
              <a:defRPr b="0"/>
            </a:pPr>
            <a:r>
              <a:t> 0.0982461  -0.07267588]</a:t>
            </a:r>
          </a:p>
        </p:txBody>
      </p:sp>
      <p:sp>
        <p:nvSpPr>
          <p:cNvPr id="242" name="Line"/>
          <p:cNvSpPr/>
          <p:nvPr/>
        </p:nvSpPr>
        <p:spPr>
          <a:xfrm>
            <a:off x="12290879" y="7053459"/>
            <a:ext cx="3614724" cy="3160241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43" name="[-0.1823554  -0.17605234]"/>
          <p:cNvSpPr txBox="1"/>
          <p:nvPr/>
        </p:nvSpPr>
        <p:spPr>
          <a:xfrm>
            <a:off x="12633536" y="6207200"/>
            <a:ext cx="4703065" cy="560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/>
            <a:r>
              <a:t>[-0.1823554  -0.17605234]</a:t>
            </a:r>
          </a:p>
        </p:txBody>
      </p:sp>
      <p:sp>
        <p:nvSpPr>
          <p:cNvPr id="244" name="Line"/>
          <p:cNvSpPr/>
          <p:nvPr/>
        </p:nvSpPr>
        <p:spPr>
          <a:xfrm>
            <a:off x="16782116" y="3205173"/>
            <a:ext cx="2531533" cy="988051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45" name="Computer"/>
          <p:cNvSpPr/>
          <p:nvPr/>
        </p:nvSpPr>
        <p:spPr>
          <a:xfrm>
            <a:off x="831788" y="5134402"/>
            <a:ext cx="1762968" cy="14226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5" h="21600" fill="norm" stroke="1" extrusionOk="0">
                <a:moveTo>
                  <a:pt x="464" y="0"/>
                </a:moveTo>
                <a:cubicBezTo>
                  <a:pt x="210" y="0"/>
                  <a:pt x="0" y="261"/>
                  <a:pt x="0" y="575"/>
                </a:cubicBezTo>
                <a:lnTo>
                  <a:pt x="0" y="17777"/>
                </a:lnTo>
                <a:cubicBezTo>
                  <a:pt x="0" y="18091"/>
                  <a:pt x="210" y="18354"/>
                  <a:pt x="464" y="18354"/>
                </a:cubicBezTo>
                <a:lnTo>
                  <a:pt x="9148" y="18354"/>
                </a:lnTo>
                <a:lnTo>
                  <a:pt x="9116" y="18513"/>
                </a:lnTo>
                <a:lnTo>
                  <a:pt x="8753" y="20763"/>
                </a:lnTo>
                <a:lnTo>
                  <a:pt x="7690" y="20763"/>
                </a:lnTo>
                <a:lnTo>
                  <a:pt x="7690" y="21600"/>
                </a:lnTo>
                <a:lnTo>
                  <a:pt x="10486" y="21600"/>
                </a:lnTo>
                <a:lnTo>
                  <a:pt x="11107" y="21600"/>
                </a:lnTo>
                <a:lnTo>
                  <a:pt x="13905" y="21600"/>
                </a:lnTo>
                <a:lnTo>
                  <a:pt x="13905" y="20763"/>
                </a:lnTo>
                <a:lnTo>
                  <a:pt x="12842" y="20763"/>
                </a:lnTo>
                <a:lnTo>
                  <a:pt x="12479" y="18513"/>
                </a:lnTo>
                <a:lnTo>
                  <a:pt x="12452" y="18354"/>
                </a:lnTo>
                <a:lnTo>
                  <a:pt x="21131" y="18354"/>
                </a:lnTo>
                <a:cubicBezTo>
                  <a:pt x="21384" y="18354"/>
                  <a:pt x="21595" y="18091"/>
                  <a:pt x="21595" y="17777"/>
                </a:cubicBezTo>
                <a:lnTo>
                  <a:pt x="21595" y="575"/>
                </a:lnTo>
                <a:cubicBezTo>
                  <a:pt x="21600" y="261"/>
                  <a:pt x="21389" y="0"/>
                  <a:pt x="21136" y="0"/>
                </a:cubicBezTo>
                <a:lnTo>
                  <a:pt x="464" y="0"/>
                </a:lnTo>
                <a:close/>
                <a:moveTo>
                  <a:pt x="10800" y="542"/>
                </a:moveTo>
                <a:cubicBezTo>
                  <a:pt x="10913" y="542"/>
                  <a:pt x="11006" y="650"/>
                  <a:pt x="11006" y="797"/>
                </a:cubicBezTo>
                <a:cubicBezTo>
                  <a:pt x="11006" y="937"/>
                  <a:pt x="10913" y="1052"/>
                  <a:pt x="10800" y="1052"/>
                </a:cubicBezTo>
                <a:cubicBezTo>
                  <a:pt x="10686" y="1052"/>
                  <a:pt x="10594" y="937"/>
                  <a:pt x="10594" y="797"/>
                </a:cubicBezTo>
                <a:cubicBezTo>
                  <a:pt x="10594" y="656"/>
                  <a:pt x="10686" y="542"/>
                  <a:pt x="10800" y="542"/>
                </a:cubicBezTo>
                <a:close/>
                <a:moveTo>
                  <a:pt x="1242" y="1734"/>
                </a:moveTo>
                <a:lnTo>
                  <a:pt x="20358" y="1734"/>
                </a:lnTo>
                <a:lnTo>
                  <a:pt x="20358" y="15233"/>
                </a:lnTo>
                <a:lnTo>
                  <a:pt x="1242" y="15233"/>
                </a:lnTo>
                <a:lnTo>
                  <a:pt x="1242" y="1734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246" name="Using Vector Database"/>
          <p:cNvSpPr txBox="1"/>
          <p:nvPr/>
        </p:nvSpPr>
        <p:spPr>
          <a:xfrm>
            <a:off x="465787" y="131025"/>
            <a:ext cx="13121641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Using Vector Database</a:t>
            </a:r>
          </a:p>
        </p:txBody>
      </p:sp>
      <p:sp>
        <p:nvSpPr>
          <p:cNvPr id="247" name="Data Chunks"/>
          <p:cNvSpPr txBox="1"/>
          <p:nvPr/>
        </p:nvSpPr>
        <p:spPr>
          <a:xfrm>
            <a:off x="14870391" y="4137942"/>
            <a:ext cx="3050541" cy="696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Data Chunks</a:t>
            </a:r>
          </a:p>
        </p:txBody>
      </p:sp>
      <p:sp>
        <p:nvSpPr>
          <p:cNvPr id="248" name="Matching Data"/>
          <p:cNvSpPr txBox="1"/>
          <p:nvPr/>
        </p:nvSpPr>
        <p:spPr>
          <a:xfrm>
            <a:off x="16197867" y="6914851"/>
            <a:ext cx="3436113" cy="696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Matching Data</a:t>
            </a:r>
          </a:p>
        </p:txBody>
      </p:sp>
      <p:sp>
        <p:nvSpPr>
          <p:cNvPr id="249" name="Line"/>
          <p:cNvSpPr/>
          <p:nvPr/>
        </p:nvSpPr>
        <p:spPr>
          <a:xfrm>
            <a:off x="5818829" y="5485188"/>
            <a:ext cx="3011594" cy="1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50" name="Matching Data"/>
          <p:cNvSpPr txBox="1"/>
          <p:nvPr/>
        </p:nvSpPr>
        <p:spPr>
          <a:xfrm>
            <a:off x="5860067" y="6509511"/>
            <a:ext cx="3436113" cy="6969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Matching Data</a:t>
            </a:r>
          </a:p>
        </p:txBody>
      </p:sp>
      <p:sp>
        <p:nvSpPr>
          <p:cNvPr id="251" name="Chroma"/>
          <p:cNvSpPr txBox="1"/>
          <p:nvPr/>
        </p:nvSpPr>
        <p:spPr>
          <a:xfrm>
            <a:off x="1143425" y="9661457"/>
            <a:ext cx="2824735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Chroma</a:t>
            </a:r>
          </a:p>
        </p:txBody>
      </p:sp>
      <p:sp>
        <p:nvSpPr>
          <p:cNvPr id="252" name="FAISS"/>
          <p:cNvSpPr txBox="1"/>
          <p:nvPr/>
        </p:nvSpPr>
        <p:spPr>
          <a:xfrm>
            <a:off x="4579394" y="9661457"/>
            <a:ext cx="2188465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FAISS</a:t>
            </a:r>
          </a:p>
        </p:txBody>
      </p:sp>
      <p:sp>
        <p:nvSpPr>
          <p:cNvPr id="253" name="PineCone"/>
          <p:cNvSpPr txBox="1"/>
          <p:nvPr/>
        </p:nvSpPr>
        <p:spPr>
          <a:xfrm>
            <a:off x="7386712" y="9661457"/>
            <a:ext cx="3430525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PineCone</a:t>
            </a:r>
          </a:p>
        </p:txBody>
      </p:sp>
      <p:sp>
        <p:nvSpPr>
          <p:cNvPr id="254" name="Lance"/>
          <p:cNvSpPr txBox="1"/>
          <p:nvPr/>
        </p:nvSpPr>
        <p:spPr>
          <a:xfrm>
            <a:off x="11470762" y="9661457"/>
            <a:ext cx="2189227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Lance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click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nodeType="clickEffect" presetSubtype="0" presetID="1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nodeType="clickEffect" presetSubtype="0" presetID="1" grpId="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nodeType="clickEffect" presetSubtype="0" presetID="1" grpId="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Class="entr" nodeType="clickEffect" presetSubtype="0" presetID="1" grpId="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Class="entr" nodeType="clickEffect" presetSubtype="0" presetID="1" grpId="1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Class="entr" nodeType="clickEffect" presetSubtype="0" presetID="1" grpId="1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Class="entr" nodeType="clickEffect" presetSubtype="0" presetID="1" grpId="1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Class="entr" nodeType="clickEffect" presetSubtype="0" presetID="1" grpId="1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Class="entr" nodeType="clickEffect" presetSubtype="0" presetID="1" grpId="1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Class="entr" nodeType="clickEffect" presetSubtype="0" presetID="1" grpId="1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Class="entr" nodeType="clickEffect" presetSubtype="0" presetID="1" grpId="1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Class="entr" nodeType="clickEffect" presetSubtype="0" presetID="1" grpId="1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Class="entr" nodeType="clickEffect" presetSubtype="0" presetID="1" grpId="1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4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Class="entr" nodeType="clickEffect" presetSubtype="0" presetID="1" grpId="1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Class="entr" nodeType="clickEffect" presetSubtype="0" presetID="1" grpId="2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Class="entr" nodeType="clickEffect" presetSubtype="0" presetID="1" grpId="2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6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Class="entr" nodeType="clickEffect" presetSubtype="0" presetID="1" grpId="2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Class="entr" nodeType="clickEffect" presetSubtype="0" presetID="1" grpId="2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4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Class="entr" nodeType="clickEffect" presetSubtype="0" presetID="1" grpId="2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8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Class="entr" nodeType="clickEffect" presetSubtype="0" presetID="1" grpId="2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2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54" grpId="25"/>
      <p:bldP build="whole" bldLvl="1" animBg="1" rev="0" advAuto="0" spid="238" grpId="9"/>
      <p:bldP build="whole" bldLvl="1" animBg="1" rev="0" advAuto="0" spid="243" grpId="17"/>
      <p:bldP build="whole" bldLvl="1" animBg="1" rev="0" advAuto="0" spid="245" grpId="14"/>
      <p:bldP build="whole" bldLvl="1" animBg="1" rev="0" advAuto="0" spid="233" grpId="7"/>
      <p:bldP build="whole" bldLvl="1" animBg="1" rev="0" advAuto="0" spid="248" grpId="19"/>
      <p:bldP build="whole" bldLvl="1" animBg="1" rev="0" advAuto="0" spid="232" grpId="5"/>
      <p:bldP build="whole" bldLvl="1" animBg="1" rev="0" advAuto="0" spid="241" grpId="11"/>
      <p:bldP build="whole" bldLvl="1" animBg="1" rev="0" advAuto="0" spid="234" grpId="3"/>
      <p:bldP build="whole" bldLvl="1" animBg="1" rev="0" advAuto="0" spid="240" grpId="18"/>
      <p:bldP build="whole" bldLvl="1" animBg="1" rev="0" advAuto="0" spid="246" grpId="1"/>
      <p:bldP build="whole" bldLvl="1" animBg="1" rev="0" advAuto="0" spid="242" grpId="10"/>
      <p:bldP build="whole" bldLvl="1" animBg="1" rev="0" advAuto="0" spid="249" grpId="16"/>
      <p:bldP build="whole" bldLvl="1" animBg="1" rev="0" advAuto="0" spid="252" grpId="23"/>
      <p:bldP build="whole" bldLvl="1" animBg="1" rev="0" advAuto="0" spid="247" grpId="12"/>
      <p:bldP build="whole" bldLvl="1" animBg="1" rev="0" advAuto="0" spid="236" grpId="8"/>
      <p:bldP build="whole" bldLvl="1" animBg="1" rev="0" advAuto="0" spid="253" grpId="24"/>
      <p:bldP build="whole" bldLvl="1" animBg="1" rev="0" advAuto="0" spid="231" grpId="4"/>
      <p:bldP build="whole" bldLvl="1" animBg="1" rev="0" advAuto="0" spid="244" grpId="13"/>
      <p:bldP build="whole" bldLvl="1" animBg="1" rev="0" advAuto="0" spid="239" grpId="2"/>
      <p:bldP build="whole" bldLvl="1" animBg="1" rev="0" advAuto="0" spid="235" grpId="6"/>
      <p:bldP build="whole" bldLvl="1" animBg="1" rev="0" advAuto="0" spid="230" grpId="15"/>
      <p:bldP build="whole" bldLvl="1" animBg="1" rev="0" advAuto="0" spid="250" grpId="21"/>
      <p:bldP build="whole" bldLvl="1" animBg="1" rev="0" advAuto="0" spid="251" grpId="22"/>
      <p:bldP build="whole" bldLvl="1" animBg="1" rev="0" advAuto="0" spid="237" grpId="2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rompt"/>
          <p:cNvSpPr txBox="1"/>
          <p:nvPr/>
        </p:nvSpPr>
        <p:spPr>
          <a:xfrm>
            <a:off x="16477502" y="4265770"/>
            <a:ext cx="2627377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Prompt</a:t>
            </a:r>
          </a:p>
        </p:txBody>
      </p:sp>
      <p:sp>
        <p:nvSpPr>
          <p:cNvPr id="257" name="+"/>
          <p:cNvSpPr txBox="1"/>
          <p:nvPr/>
        </p:nvSpPr>
        <p:spPr>
          <a:xfrm>
            <a:off x="17332188" y="5283084"/>
            <a:ext cx="571501" cy="1019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6000"/>
            </a:lvl1pPr>
          </a:lstStyle>
          <a:p>
            <a:pPr/>
            <a:r>
              <a:t>+</a:t>
            </a:r>
          </a:p>
        </p:txBody>
      </p:sp>
      <p:sp>
        <p:nvSpPr>
          <p:cNvPr id="258" name="Relevant…"/>
          <p:cNvSpPr txBox="1"/>
          <p:nvPr/>
        </p:nvSpPr>
        <p:spPr>
          <a:xfrm>
            <a:off x="16456856" y="6325030"/>
            <a:ext cx="3077719" cy="19090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b="0" sz="6000"/>
            </a:pPr>
            <a:r>
              <a:t>Relevant</a:t>
            </a:r>
          </a:p>
          <a:p>
            <a:pPr>
              <a:defRPr b="0" sz="6000"/>
            </a:pPr>
            <a:r>
              <a:t>Data</a:t>
            </a:r>
          </a:p>
        </p:txBody>
      </p:sp>
      <p:sp>
        <p:nvSpPr>
          <p:cNvPr id="259" name="Line"/>
          <p:cNvSpPr/>
          <p:nvPr/>
        </p:nvSpPr>
        <p:spPr>
          <a:xfrm>
            <a:off x="17617939" y="8411809"/>
            <a:ext cx="1" cy="709166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60" name="LLM"/>
          <p:cNvSpPr/>
          <p:nvPr/>
        </p:nvSpPr>
        <p:spPr>
          <a:xfrm>
            <a:off x="16285392" y="9298690"/>
            <a:ext cx="3011594" cy="1488024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LLM</a:t>
            </a:r>
          </a:p>
        </p:txBody>
      </p:sp>
      <p:sp>
        <p:nvSpPr>
          <p:cNvPr id="261" name="Outdated Data"/>
          <p:cNvSpPr txBox="1"/>
          <p:nvPr/>
        </p:nvSpPr>
        <p:spPr>
          <a:xfrm>
            <a:off x="730978" y="5683468"/>
            <a:ext cx="5125975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Outdated Data</a:t>
            </a:r>
          </a:p>
        </p:txBody>
      </p:sp>
      <p:sp>
        <p:nvSpPr>
          <p:cNvPr id="262" name="Our Own Data"/>
          <p:cNvSpPr txBox="1"/>
          <p:nvPr/>
        </p:nvSpPr>
        <p:spPr>
          <a:xfrm>
            <a:off x="3218634" y="7612321"/>
            <a:ext cx="4969765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Our Own Data</a:t>
            </a:r>
          </a:p>
        </p:txBody>
      </p:sp>
      <p:sp>
        <p:nvSpPr>
          <p:cNvPr id="263" name="Prompt"/>
          <p:cNvSpPr txBox="1"/>
          <p:nvPr/>
        </p:nvSpPr>
        <p:spPr>
          <a:xfrm>
            <a:off x="10962259" y="4087763"/>
            <a:ext cx="2627377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Prompt</a:t>
            </a:r>
          </a:p>
        </p:txBody>
      </p:sp>
      <p:sp>
        <p:nvSpPr>
          <p:cNvPr id="264" name="+"/>
          <p:cNvSpPr txBox="1"/>
          <p:nvPr/>
        </p:nvSpPr>
        <p:spPr>
          <a:xfrm>
            <a:off x="11816947" y="5105077"/>
            <a:ext cx="571501" cy="10192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6000"/>
            </a:lvl1pPr>
          </a:lstStyle>
          <a:p>
            <a:pPr/>
            <a:r>
              <a:t>+</a:t>
            </a:r>
          </a:p>
        </p:txBody>
      </p:sp>
      <p:sp>
        <p:nvSpPr>
          <p:cNvPr id="265" name="Data"/>
          <p:cNvSpPr txBox="1"/>
          <p:nvPr/>
        </p:nvSpPr>
        <p:spPr>
          <a:xfrm>
            <a:off x="11421364" y="6362922"/>
            <a:ext cx="1709167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Data</a:t>
            </a:r>
          </a:p>
        </p:txBody>
      </p:sp>
      <p:sp>
        <p:nvSpPr>
          <p:cNvPr id="266" name="Line"/>
          <p:cNvSpPr/>
          <p:nvPr/>
        </p:nvSpPr>
        <p:spPr>
          <a:xfrm>
            <a:off x="12102696" y="8233803"/>
            <a:ext cx="1" cy="709166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67" name="LLM"/>
          <p:cNvSpPr/>
          <p:nvPr/>
        </p:nvSpPr>
        <p:spPr>
          <a:xfrm>
            <a:off x="10770151" y="9120684"/>
            <a:ext cx="3215448" cy="1626468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LLM</a:t>
            </a:r>
          </a:p>
        </p:txBody>
      </p:sp>
      <p:sp>
        <p:nvSpPr>
          <p:cNvPr id="268" name="RAG"/>
          <p:cNvSpPr txBox="1"/>
          <p:nvPr/>
        </p:nvSpPr>
        <p:spPr>
          <a:xfrm>
            <a:off x="1190968" y="694925"/>
            <a:ext cx="2314957" cy="1304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8000"/>
            </a:lvl1pPr>
          </a:lstStyle>
          <a:p>
            <a:pPr/>
            <a:r>
              <a:t>RAG</a:t>
            </a:r>
          </a:p>
        </p:txBody>
      </p:sp>
      <p:sp>
        <p:nvSpPr>
          <p:cNvPr id="269" name="Retrieval Augmented Generation"/>
          <p:cNvSpPr txBox="1"/>
          <p:nvPr/>
        </p:nvSpPr>
        <p:spPr>
          <a:xfrm>
            <a:off x="7754649" y="694925"/>
            <a:ext cx="15916149" cy="1304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8000"/>
            </a:lvl1pPr>
          </a:lstStyle>
          <a:p>
            <a:pPr/>
            <a:r>
              <a:t>Retrieval Augmented Generation</a:t>
            </a:r>
          </a:p>
        </p:txBody>
      </p:sp>
      <p:sp>
        <p:nvSpPr>
          <p:cNvPr id="270" name="Latest Data"/>
          <p:cNvSpPr txBox="1"/>
          <p:nvPr/>
        </p:nvSpPr>
        <p:spPr>
          <a:xfrm>
            <a:off x="6627097" y="5683468"/>
            <a:ext cx="4024123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Latest Data</a:t>
            </a:r>
          </a:p>
        </p:txBody>
      </p:sp>
      <p:sp>
        <p:nvSpPr>
          <p:cNvPr id="271" name="Line"/>
          <p:cNvSpPr/>
          <p:nvPr/>
        </p:nvSpPr>
        <p:spPr>
          <a:xfrm>
            <a:off x="10704664" y="6503417"/>
            <a:ext cx="676515" cy="311466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72" name="Line"/>
          <p:cNvSpPr/>
          <p:nvPr/>
        </p:nvSpPr>
        <p:spPr>
          <a:xfrm flipV="1">
            <a:off x="8635618" y="7529912"/>
            <a:ext cx="2618625" cy="625538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click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nodeType="clickEffect" presetSubtype="0" presetID="1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nodeType="clickEffect" presetSubtype="0" presetID="1" grpId="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nodeType="clickEffect" presetSubtype="0" presetID="1" grpId="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Class="entr" nodeType="clickEffect" presetSubtype="0" presetID="1" grpId="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Class="entr" nodeType="clickEffect" presetSubtype="0" presetID="1" grpId="1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Class="entr" nodeType="clickEffect" presetSubtype="0" presetID="1" grpId="1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Class="entr" nodeType="clickEffect" presetSubtype="0" presetID="1" grpId="1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Class="entr" nodeType="clickEffect" presetSubtype="0" presetID="1" grpId="1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Class="entr" nodeType="clickEffect" presetSubtype="0" presetID="1" grpId="1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Class="entr" nodeType="clickEffect" presetSubtype="0" presetID="1" grpId="1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fill="hold"/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Class="entr" nodeType="clickEffect" presetSubtype="0" presetID="1" grpId="1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Class="entr" nodeType="clickEffect" presetSubtype="0" presetID="1" grpId="1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59" grpId="16"/>
      <p:bldP build="whole" bldLvl="1" animBg="1" rev="0" advAuto="0" spid="266" grpId="12"/>
      <p:bldP build="whole" bldLvl="1" animBg="1" rev="0" advAuto="0" spid="261" grpId="4"/>
      <p:bldP build="whole" bldLvl="1" animBg="1" rev="0" advAuto="0" spid="258" grpId="15"/>
      <p:bldP build="whole" bldLvl="1" animBg="1" rev="0" advAuto="0" spid="272" grpId="10"/>
      <p:bldP build="whole" bldLvl="1" animBg="1" rev="0" advAuto="0" spid="265" grpId="11"/>
      <p:bldP build="whole" bldLvl="1" animBg="1" rev="0" advAuto="0" spid="260" grpId="17"/>
      <p:bldP build="whole" bldLvl="1" animBg="1" rev="0" advAuto="0" spid="269" grpId="2"/>
      <p:bldP build="whole" bldLvl="1" animBg="1" rev="0" advAuto="0" spid="262" grpId="7"/>
      <p:bldP build="whole" bldLvl="1" animBg="1" rev="0" advAuto="0" spid="264" grpId="8"/>
      <p:bldP build="whole" bldLvl="1" animBg="1" rev="0" advAuto="0" spid="257" grpId="14"/>
      <p:bldP build="whole" bldLvl="1" animBg="1" rev="0" advAuto="0" spid="268" grpId="1"/>
      <p:bldP build="whole" bldLvl="1" animBg="1" rev="0" advAuto="0" spid="263" grpId="5"/>
      <p:bldP build="whole" bldLvl="1" animBg="1" rev="0" advAuto="0" spid="256" grpId="13"/>
      <p:bldP build="whole" bldLvl="1" animBg="1" rev="0" advAuto="0" spid="267" grpId="3"/>
      <p:bldP build="whole" bldLvl="1" animBg="1" rev="0" advAuto="0" spid="270" grpId="6"/>
      <p:bldP build="whole" bldLvl="1" animBg="1" rev="0" advAuto="0" spid="271" grpId="9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rompt"/>
          <p:cNvSpPr txBox="1"/>
          <p:nvPr/>
        </p:nvSpPr>
        <p:spPr>
          <a:xfrm>
            <a:off x="2987084" y="3527740"/>
            <a:ext cx="2795017" cy="10192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6000"/>
            </a:lvl1pPr>
          </a:lstStyle>
          <a:p>
            <a:pPr/>
            <a:r>
              <a:t>Prompt</a:t>
            </a:r>
          </a:p>
        </p:txBody>
      </p:sp>
      <p:sp>
        <p:nvSpPr>
          <p:cNvPr id="275" name="Document"/>
          <p:cNvSpPr txBox="1"/>
          <p:nvPr/>
        </p:nvSpPr>
        <p:spPr>
          <a:xfrm>
            <a:off x="21462299" y="8628308"/>
            <a:ext cx="2625853" cy="709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000"/>
            </a:lvl1pPr>
          </a:lstStyle>
          <a:p>
            <a:pPr/>
            <a:r>
              <a:t>Document</a:t>
            </a:r>
          </a:p>
        </p:txBody>
      </p:sp>
      <p:sp>
        <p:nvSpPr>
          <p:cNvPr id="276" name="Line"/>
          <p:cNvSpPr/>
          <p:nvPr/>
        </p:nvSpPr>
        <p:spPr>
          <a:xfrm flipH="1">
            <a:off x="19522694" y="7587276"/>
            <a:ext cx="1879830" cy="1495500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77" name="Text Document"/>
          <p:cNvSpPr/>
          <p:nvPr/>
        </p:nvSpPr>
        <p:spPr>
          <a:xfrm>
            <a:off x="17291699" y="9967716"/>
            <a:ext cx="1604049" cy="20772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278" name="Text Document"/>
          <p:cNvSpPr/>
          <p:nvPr/>
        </p:nvSpPr>
        <p:spPr>
          <a:xfrm>
            <a:off x="21728098" y="5914018"/>
            <a:ext cx="2094256" cy="27120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7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279" name="Text Document"/>
          <p:cNvSpPr/>
          <p:nvPr/>
        </p:nvSpPr>
        <p:spPr>
          <a:xfrm>
            <a:off x="19086850" y="10065939"/>
            <a:ext cx="1531314" cy="19830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280" name="Text Document"/>
          <p:cNvSpPr/>
          <p:nvPr/>
        </p:nvSpPr>
        <p:spPr>
          <a:xfrm>
            <a:off x="15496550" y="9967716"/>
            <a:ext cx="1604048" cy="20772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281" name="Line"/>
          <p:cNvSpPr/>
          <p:nvPr/>
        </p:nvSpPr>
        <p:spPr>
          <a:xfrm>
            <a:off x="6002774" y="4037388"/>
            <a:ext cx="3011595" cy="1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82" name="Embedding…"/>
          <p:cNvSpPr txBox="1"/>
          <p:nvPr/>
        </p:nvSpPr>
        <p:spPr>
          <a:xfrm>
            <a:off x="9578935" y="3443411"/>
            <a:ext cx="4024885" cy="19090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b="0" sz="6000"/>
            </a:pPr>
            <a:r>
              <a:t>Embedding</a:t>
            </a:r>
          </a:p>
          <a:p>
            <a:pPr>
              <a:defRPr b="0" sz="6000"/>
            </a:pPr>
            <a:r>
              <a:t>Model</a:t>
            </a:r>
          </a:p>
        </p:txBody>
      </p:sp>
      <p:sp>
        <p:nvSpPr>
          <p:cNvPr id="283" name="Vector…"/>
          <p:cNvSpPr/>
          <p:nvPr/>
        </p:nvSpPr>
        <p:spPr>
          <a:xfrm>
            <a:off x="19593903" y="1869489"/>
            <a:ext cx="2411862" cy="31839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21600" fill="norm" stroke="1" extrusionOk="0">
                <a:moveTo>
                  <a:pt x="9839" y="0"/>
                </a:moveTo>
                <a:cubicBezTo>
                  <a:pt x="7321" y="0"/>
                  <a:pt x="4803" y="241"/>
                  <a:pt x="2882" y="724"/>
                </a:cubicBezTo>
                <a:cubicBezTo>
                  <a:pt x="-961" y="1689"/>
                  <a:pt x="-961" y="3255"/>
                  <a:pt x="2882" y="4221"/>
                </a:cubicBezTo>
                <a:cubicBezTo>
                  <a:pt x="6724" y="5186"/>
                  <a:pt x="12954" y="5186"/>
                  <a:pt x="16796" y="4221"/>
                </a:cubicBezTo>
                <a:cubicBezTo>
                  <a:pt x="20639" y="3255"/>
                  <a:pt x="20639" y="1689"/>
                  <a:pt x="16796" y="724"/>
                </a:cubicBezTo>
                <a:cubicBezTo>
                  <a:pt x="14875" y="241"/>
                  <a:pt x="12357" y="0"/>
                  <a:pt x="9839" y="0"/>
                </a:cubicBezTo>
                <a:close/>
                <a:moveTo>
                  <a:pt x="0" y="3593"/>
                </a:moveTo>
                <a:lnTo>
                  <a:pt x="0" y="18993"/>
                </a:lnTo>
                <a:cubicBezTo>
                  <a:pt x="0" y="20356"/>
                  <a:pt x="4405" y="21600"/>
                  <a:pt x="9839" y="21600"/>
                </a:cubicBezTo>
                <a:cubicBezTo>
                  <a:pt x="15273" y="21600"/>
                  <a:pt x="19678" y="20356"/>
                  <a:pt x="19678" y="18993"/>
                </a:cubicBezTo>
                <a:lnTo>
                  <a:pt x="19678" y="3593"/>
                </a:lnTo>
                <a:cubicBezTo>
                  <a:pt x="18279" y="4621"/>
                  <a:pt x="14401" y="5357"/>
                  <a:pt x="9839" y="5357"/>
                </a:cubicBezTo>
                <a:cubicBezTo>
                  <a:pt x="5277" y="5357"/>
                  <a:pt x="1399" y="4621"/>
                  <a:pt x="0" y="3593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r>
              <a:t>Vector</a:t>
            </a:r>
          </a:p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r>
              <a:t>Store</a:t>
            </a:r>
          </a:p>
        </p:txBody>
      </p:sp>
      <p:sp>
        <p:nvSpPr>
          <p:cNvPr id="284" name="Line"/>
          <p:cNvSpPr/>
          <p:nvPr/>
        </p:nvSpPr>
        <p:spPr>
          <a:xfrm flipV="1">
            <a:off x="17600116" y="4542456"/>
            <a:ext cx="1748215" cy="966552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85" name="[-0.1848554  -0.17605719…"/>
          <p:cNvSpPr txBox="1"/>
          <p:nvPr/>
        </p:nvSpPr>
        <p:spPr>
          <a:xfrm>
            <a:off x="12099800" y="1170522"/>
            <a:ext cx="4746118" cy="19197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b="0"/>
            </a:pPr>
            <a:r>
              <a:t>[-0.1848554  -0.17605719  </a:t>
            </a:r>
          </a:p>
          <a:p>
            <a:pPr>
              <a:defRPr b="0"/>
            </a:pPr>
            <a:r>
              <a:t>0.18991971  0.4797751 </a:t>
            </a:r>
          </a:p>
          <a:p>
            <a:pPr>
              <a:defRPr b="0"/>
            </a:pPr>
            <a:r>
              <a:t> 0.04560479  0.00489019  </a:t>
            </a:r>
          </a:p>
          <a:p>
            <a:pPr>
              <a:defRPr b="0"/>
            </a:pPr>
            <a:r>
              <a:t> 0.0982461  -0.07267588]</a:t>
            </a:r>
          </a:p>
        </p:txBody>
      </p:sp>
      <p:sp>
        <p:nvSpPr>
          <p:cNvPr id="286" name="Line"/>
          <p:cNvSpPr/>
          <p:nvPr/>
        </p:nvSpPr>
        <p:spPr>
          <a:xfrm>
            <a:off x="12468679" y="5605659"/>
            <a:ext cx="3614724" cy="3160241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87" name="[-0.1823554  -0.17605234]"/>
          <p:cNvSpPr txBox="1"/>
          <p:nvPr/>
        </p:nvSpPr>
        <p:spPr>
          <a:xfrm>
            <a:off x="13166936" y="4802774"/>
            <a:ext cx="4703065" cy="560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/>
            <a:r>
              <a:t>[-0.1823554  -0.17605234]</a:t>
            </a:r>
          </a:p>
        </p:txBody>
      </p:sp>
      <p:sp>
        <p:nvSpPr>
          <p:cNvPr id="288" name="Line"/>
          <p:cNvSpPr/>
          <p:nvPr/>
        </p:nvSpPr>
        <p:spPr>
          <a:xfrm>
            <a:off x="16959916" y="1757373"/>
            <a:ext cx="2531533" cy="988051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89" name="Prompt"/>
          <p:cNvSpPr txBox="1"/>
          <p:nvPr/>
        </p:nvSpPr>
        <p:spPr>
          <a:xfrm>
            <a:off x="8245675" y="6360667"/>
            <a:ext cx="2627377" cy="99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Prompt</a:t>
            </a:r>
          </a:p>
        </p:txBody>
      </p:sp>
      <p:sp>
        <p:nvSpPr>
          <p:cNvPr id="290" name="+"/>
          <p:cNvSpPr txBox="1"/>
          <p:nvPr/>
        </p:nvSpPr>
        <p:spPr>
          <a:xfrm>
            <a:off x="9273613" y="7116097"/>
            <a:ext cx="571501" cy="10192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6000"/>
            </a:lvl1pPr>
          </a:lstStyle>
          <a:p>
            <a:pPr/>
            <a:r>
              <a:t>+</a:t>
            </a:r>
          </a:p>
        </p:txBody>
      </p:sp>
      <p:sp>
        <p:nvSpPr>
          <p:cNvPr id="291" name="Relevant…"/>
          <p:cNvSpPr txBox="1"/>
          <p:nvPr/>
        </p:nvSpPr>
        <p:spPr>
          <a:xfrm>
            <a:off x="8283590" y="7975182"/>
            <a:ext cx="3077719" cy="19090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b="0" sz="6000"/>
            </a:pPr>
            <a:r>
              <a:t>Relevant</a:t>
            </a:r>
          </a:p>
          <a:p>
            <a:pPr>
              <a:defRPr b="0" sz="6000"/>
            </a:pPr>
            <a:r>
              <a:t>Data</a:t>
            </a:r>
          </a:p>
        </p:txBody>
      </p:sp>
      <p:sp>
        <p:nvSpPr>
          <p:cNvPr id="292" name="Line"/>
          <p:cNvSpPr/>
          <p:nvPr/>
        </p:nvSpPr>
        <p:spPr>
          <a:xfrm>
            <a:off x="10047292" y="10070834"/>
            <a:ext cx="1" cy="709166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93" name="LLM"/>
          <p:cNvSpPr/>
          <p:nvPr/>
        </p:nvSpPr>
        <p:spPr>
          <a:xfrm>
            <a:off x="8541496" y="11057453"/>
            <a:ext cx="3011595" cy="1488024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LLM</a:t>
            </a:r>
          </a:p>
        </p:txBody>
      </p:sp>
      <p:sp>
        <p:nvSpPr>
          <p:cNvPr id="294" name="Line"/>
          <p:cNvSpPr/>
          <p:nvPr/>
        </p:nvSpPr>
        <p:spPr>
          <a:xfrm flipH="1" flipV="1">
            <a:off x="2899535" y="4835553"/>
            <a:ext cx="5350846" cy="6954432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95" name="Computer"/>
          <p:cNvSpPr/>
          <p:nvPr/>
        </p:nvSpPr>
        <p:spPr>
          <a:xfrm>
            <a:off x="1009588" y="3326046"/>
            <a:ext cx="1762968" cy="14226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5" h="21600" fill="norm" stroke="1" extrusionOk="0">
                <a:moveTo>
                  <a:pt x="464" y="0"/>
                </a:moveTo>
                <a:cubicBezTo>
                  <a:pt x="210" y="0"/>
                  <a:pt x="0" y="261"/>
                  <a:pt x="0" y="575"/>
                </a:cubicBezTo>
                <a:lnTo>
                  <a:pt x="0" y="17777"/>
                </a:lnTo>
                <a:cubicBezTo>
                  <a:pt x="0" y="18091"/>
                  <a:pt x="210" y="18354"/>
                  <a:pt x="464" y="18354"/>
                </a:cubicBezTo>
                <a:lnTo>
                  <a:pt x="9148" y="18354"/>
                </a:lnTo>
                <a:lnTo>
                  <a:pt x="9116" y="18513"/>
                </a:lnTo>
                <a:lnTo>
                  <a:pt x="8753" y="20763"/>
                </a:lnTo>
                <a:lnTo>
                  <a:pt x="7690" y="20763"/>
                </a:lnTo>
                <a:lnTo>
                  <a:pt x="7690" y="21600"/>
                </a:lnTo>
                <a:lnTo>
                  <a:pt x="10486" y="21600"/>
                </a:lnTo>
                <a:lnTo>
                  <a:pt x="11107" y="21600"/>
                </a:lnTo>
                <a:lnTo>
                  <a:pt x="13905" y="21600"/>
                </a:lnTo>
                <a:lnTo>
                  <a:pt x="13905" y="20763"/>
                </a:lnTo>
                <a:lnTo>
                  <a:pt x="12842" y="20763"/>
                </a:lnTo>
                <a:lnTo>
                  <a:pt x="12479" y="18513"/>
                </a:lnTo>
                <a:lnTo>
                  <a:pt x="12452" y="18354"/>
                </a:lnTo>
                <a:lnTo>
                  <a:pt x="21131" y="18354"/>
                </a:lnTo>
                <a:cubicBezTo>
                  <a:pt x="21384" y="18354"/>
                  <a:pt x="21595" y="18091"/>
                  <a:pt x="21595" y="17777"/>
                </a:cubicBezTo>
                <a:lnTo>
                  <a:pt x="21595" y="575"/>
                </a:lnTo>
                <a:cubicBezTo>
                  <a:pt x="21600" y="261"/>
                  <a:pt x="21389" y="0"/>
                  <a:pt x="21136" y="0"/>
                </a:cubicBezTo>
                <a:lnTo>
                  <a:pt x="464" y="0"/>
                </a:lnTo>
                <a:close/>
                <a:moveTo>
                  <a:pt x="10800" y="542"/>
                </a:moveTo>
                <a:cubicBezTo>
                  <a:pt x="10913" y="542"/>
                  <a:pt x="11006" y="650"/>
                  <a:pt x="11006" y="797"/>
                </a:cubicBezTo>
                <a:cubicBezTo>
                  <a:pt x="11006" y="937"/>
                  <a:pt x="10913" y="1052"/>
                  <a:pt x="10800" y="1052"/>
                </a:cubicBezTo>
                <a:cubicBezTo>
                  <a:pt x="10686" y="1052"/>
                  <a:pt x="10594" y="937"/>
                  <a:pt x="10594" y="797"/>
                </a:cubicBezTo>
                <a:cubicBezTo>
                  <a:pt x="10594" y="656"/>
                  <a:pt x="10686" y="542"/>
                  <a:pt x="10800" y="542"/>
                </a:cubicBezTo>
                <a:close/>
                <a:moveTo>
                  <a:pt x="1242" y="1734"/>
                </a:moveTo>
                <a:lnTo>
                  <a:pt x="20358" y="1734"/>
                </a:lnTo>
                <a:lnTo>
                  <a:pt x="20358" y="15233"/>
                </a:lnTo>
                <a:lnTo>
                  <a:pt x="1242" y="15233"/>
                </a:lnTo>
                <a:lnTo>
                  <a:pt x="1242" y="1734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296" name="RAG Process"/>
          <p:cNvSpPr txBox="1"/>
          <p:nvPr/>
        </p:nvSpPr>
        <p:spPr>
          <a:xfrm>
            <a:off x="529507" y="517375"/>
            <a:ext cx="7710171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RAG Process</a:t>
            </a:r>
          </a:p>
        </p:txBody>
      </p:sp>
      <p:sp>
        <p:nvSpPr>
          <p:cNvPr id="297" name="Data"/>
          <p:cNvSpPr txBox="1"/>
          <p:nvPr/>
        </p:nvSpPr>
        <p:spPr>
          <a:xfrm>
            <a:off x="16010089" y="3112995"/>
            <a:ext cx="1177545" cy="696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Data</a:t>
            </a:r>
          </a:p>
        </p:txBody>
      </p:sp>
      <p:sp>
        <p:nvSpPr>
          <p:cNvPr id="298" name="Relevant Data"/>
          <p:cNvSpPr txBox="1"/>
          <p:nvPr/>
        </p:nvSpPr>
        <p:spPr>
          <a:xfrm>
            <a:off x="16446533" y="5467051"/>
            <a:ext cx="3294381" cy="6969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Relevant Data</a:t>
            </a:r>
          </a:p>
        </p:txBody>
      </p:sp>
      <p:sp>
        <p:nvSpPr>
          <p:cNvPr id="299" name="Response"/>
          <p:cNvSpPr txBox="1"/>
          <p:nvPr/>
        </p:nvSpPr>
        <p:spPr>
          <a:xfrm>
            <a:off x="1851944" y="8432382"/>
            <a:ext cx="3529585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Response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click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nodeType="clickEffect" presetSubtype="0" presetID="1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nodeType="clickEffect" presetSubtype="0" presetID="1" grpId="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nodeType="clickEffect" presetSubtype="0" presetID="1" grpId="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Class="entr" nodeType="clickEffect" presetSubtype="0" presetID="1" grpId="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Class="entr" nodeType="clickEffect" presetSubtype="0" presetID="1" grpId="1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Class="entr" nodeType="clickEffect" presetSubtype="0" presetID="1" grpId="1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Class="entr" nodeType="clickEffect" presetSubtype="0" presetID="1" grpId="1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Class="entr" nodeType="clickEffect" presetSubtype="0" presetID="1" grpId="1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Class="entr" nodeType="clickEffect" presetSubtype="0" presetID="1" grpId="1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Class="entr" nodeType="clickEffect" presetSubtype="0" presetID="1" grpId="1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fill="hold"/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Class="entr" nodeType="clickEffect" presetSubtype="0" presetID="1" grpId="1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Class="entr" nodeType="clickEffect" presetSubtype="0" presetID="1" grpId="1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Class="entr" nodeType="clickEffect" presetSubtype="0" presetID="1" grpId="1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4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Class="entr" nodeType="clickEffect" presetSubtype="0" presetID="1" grpId="1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Class="entr" nodeType="clickEffect" presetSubtype="0" presetID="1" grpId="2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Class="entr" nodeType="clickEffect" presetSubtype="0" presetID="1" grpId="2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6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Class="entr" nodeType="clickEffect" presetSubtype="0" presetID="1" grpId="2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Class="entr" nodeType="clickEffect" presetSubtype="0" presetID="1" grpId="2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4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Class="entr" nodeType="clickEffect" presetSubtype="0" presetID="1" grpId="2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8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Class="entr" nodeType="clickEffect" presetSubtype="0" presetID="1" grpId="2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2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Class="entr" nodeType="clickEffect" presetSubtype="0" presetID="1" grpId="2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6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86" grpId="9"/>
      <p:bldP build="whole" bldLvl="1" animBg="1" rev="0" advAuto="0" spid="285" grpId="10"/>
      <p:bldP build="whole" bldLvl="1" animBg="1" rev="0" advAuto="0" spid="296" grpId="1"/>
      <p:bldP build="whole" bldLvl="1" animBg="1" rev="0" advAuto="0" spid="281" grpId="16"/>
      <p:bldP build="whole" bldLvl="1" animBg="1" rev="0" advAuto="0" spid="280" grpId="7"/>
      <p:bldP build="whole" bldLvl="1" animBg="1" rev="0" advAuto="0" spid="299" grpId="26"/>
      <p:bldP build="whole" bldLvl="1" animBg="1" rev="0" advAuto="0" spid="295" grpId="14"/>
      <p:bldP build="whole" bldLvl="1" animBg="1" rev="0" advAuto="0" spid="282" grpId="8"/>
      <p:bldP build="whole" bldLvl="1" animBg="1" rev="0" advAuto="0" spid="288" grpId="12"/>
      <p:bldP build="whole" bldLvl="1" animBg="1" rev="0" advAuto="0" spid="294" grpId="25"/>
      <p:bldP build="whole" bldLvl="1" animBg="1" rev="0" advAuto="0" spid="284" grpId="18"/>
      <p:bldP build="whole" bldLvl="1" animBg="1" rev="0" advAuto="0" spid="287" grpId="17"/>
      <p:bldP build="whole" bldLvl="1" animBg="1" rev="0" advAuto="0" spid="298" grpId="19"/>
      <p:bldP build="whole" bldLvl="1" animBg="1" rev="0" advAuto="0" spid="291" grpId="22"/>
      <p:bldP build="whole" bldLvl="1" animBg="1" rev="0" advAuto="0" spid="275" grpId="2"/>
      <p:bldP build="whole" bldLvl="1" animBg="1" rev="0" advAuto="0" spid="278" grpId="3"/>
      <p:bldP build="whole" bldLvl="1" animBg="1" rev="0" advAuto="0" spid="283" grpId="13"/>
      <p:bldP build="whole" bldLvl="1" animBg="1" rev="0" advAuto="0" spid="289" grpId="20"/>
      <p:bldP build="whole" bldLvl="1" animBg="1" rev="0" advAuto="0" spid="292" grpId="23"/>
      <p:bldP build="whole" bldLvl="1" animBg="1" rev="0" advAuto="0" spid="274" grpId="15"/>
      <p:bldP build="whole" bldLvl="1" animBg="1" rev="0" advAuto="0" spid="290" grpId="21"/>
      <p:bldP build="whole" bldLvl="1" animBg="1" rev="0" advAuto="0" spid="276" grpId="4"/>
      <p:bldP build="whole" bldLvl="1" animBg="1" rev="0" advAuto="0" spid="277" grpId="6"/>
      <p:bldP build="whole" bldLvl="1" animBg="1" rev="0" advAuto="0" spid="279" grpId="5"/>
      <p:bldP build="whole" bldLvl="1" animBg="1" rev="0" advAuto="0" spid="297" grpId="11"/>
      <p:bldP build="whole" bldLvl="1" animBg="1" rev="0" advAuto="0" spid="293" grpId="24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Other LLMs"/>
          <p:cNvSpPr txBox="1"/>
          <p:nvPr/>
        </p:nvSpPr>
        <p:spPr>
          <a:xfrm>
            <a:off x="484373" y="777271"/>
            <a:ext cx="10138411" cy="23215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5000"/>
            </a:lvl1pPr>
          </a:lstStyle>
          <a:p>
            <a:pPr/>
            <a:r>
              <a:t>Other LLMs</a:t>
            </a:r>
          </a:p>
        </p:txBody>
      </p:sp>
      <p:sp>
        <p:nvSpPr>
          <p:cNvPr id="302" name="Google Gemini"/>
          <p:cNvSpPr txBox="1"/>
          <p:nvPr/>
        </p:nvSpPr>
        <p:spPr>
          <a:xfrm>
            <a:off x="2472191" y="4027541"/>
            <a:ext cx="8581391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Google Gemini</a:t>
            </a:r>
          </a:p>
        </p:txBody>
      </p:sp>
      <p:sp>
        <p:nvSpPr>
          <p:cNvPr id="303" name="Open Source"/>
          <p:cNvSpPr txBox="1"/>
          <p:nvPr/>
        </p:nvSpPr>
        <p:spPr>
          <a:xfrm>
            <a:off x="2476941" y="6625092"/>
            <a:ext cx="7595871" cy="15773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Open Source</a:t>
            </a:r>
          </a:p>
        </p:txBody>
      </p:sp>
      <p:sp>
        <p:nvSpPr>
          <p:cNvPr id="304" name="Mistral"/>
          <p:cNvSpPr txBox="1"/>
          <p:nvPr/>
        </p:nvSpPr>
        <p:spPr>
          <a:xfrm>
            <a:off x="18530504" y="8874260"/>
            <a:ext cx="240030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Mistral</a:t>
            </a:r>
          </a:p>
        </p:txBody>
      </p:sp>
      <p:sp>
        <p:nvSpPr>
          <p:cNvPr id="305" name="Llama"/>
          <p:cNvSpPr txBox="1"/>
          <p:nvPr/>
        </p:nvSpPr>
        <p:spPr>
          <a:xfrm>
            <a:off x="3143578" y="8874260"/>
            <a:ext cx="217551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Llama</a:t>
            </a:r>
          </a:p>
        </p:txBody>
      </p:sp>
      <p:sp>
        <p:nvSpPr>
          <p:cNvPr id="306" name="Gemma"/>
          <p:cNvSpPr txBox="1"/>
          <p:nvPr/>
        </p:nvSpPr>
        <p:spPr>
          <a:xfrm>
            <a:off x="10986853" y="8874260"/>
            <a:ext cx="2811019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Gemma</a:t>
            </a:r>
          </a:p>
        </p:txBody>
      </p:sp>
      <p:sp>
        <p:nvSpPr>
          <p:cNvPr id="307" name="2B"/>
          <p:cNvSpPr txBox="1"/>
          <p:nvPr/>
        </p:nvSpPr>
        <p:spPr>
          <a:xfrm>
            <a:off x="12500537" y="10144243"/>
            <a:ext cx="1059943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2B</a:t>
            </a:r>
          </a:p>
        </p:txBody>
      </p:sp>
      <p:sp>
        <p:nvSpPr>
          <p:cNvPr id="308" name="3.1"/>
          <p:cNvSpPr txBox="1"/>
          <p:nvPr/>
        </p:nvSpPr>
        <p:spPr>
          <a:xfrm>
            <a:off x="4290104" y="10327246"/>
            <a:ext cx="117348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3.1</a:t>
            </a:r>
          </a:p>
        </p:txBody>
      </p:sp>
      <p:sp>
        <p:nvSpPr>
          <p:cNvPr id="309" name="2"/>
          <p:cNvSpPr txBox="1"/>
          <p:nvPr/>
        </p:nvSpPr>
        <p:spPr>
          <a:xfrm>
            <a:off x="4394353" y="11728694"/>
            <a:ext cx="537973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2</a:t>
            </a:r>
          </a:p>
        </p:txBody>
      </p:sp>
      <p:sp>
        <p:nvSpPr>
          <p:cNvPr id="310" name="3B"/>
          <p:cNvSpPr txBox="1"/>
          <p:nvPr/>
        </p:nvSpPr>
        <p:spPr>
          <a:xfrm>
            <a:off x="12500537" y="11728694"/>
            <a:ext cx="1059943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3B</a:t>
            </a:r>
          </a:p>
        </p:txBody>
      </p:sp>
      <p:sp>
        <p:nvSpPr>
          <p:cNvPr id="311" name="7B"/>
          <p:cNvSpPr txBox="1"/>
          <p:nvPr/>
        </p:nvSpPr>
        <p:spPr>
          <a:xfrm>
            <a:off x="19200683" y="10144243"/>
            <a:ext cx="1059943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7B</a:t>
            </a:r>
          </a:p>
        </p:txBody>
      </p:sp>
      <p:sp>
        <p:nvSpPr>
          <p:cNvPr id="312" name="8B"/>
          <p:cNvSpPr txBox="1"/>
          <p:nvPr/>
        </p:nvSpPr>
        <p:spPr>
          <a:xfrm>
            <a:off x="5744905" y="10327246"/>
            <a:ext cx="1059943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8B</a:t>
            </a:r>
          </a:p>
        </p:txBody>
      </p:sp>
      <p:sp>
        <p:nvSpPr>
          <p:cNvPr id="313" name="7B"/>
          <p:cNvSpPr txBox="1"/>
          <p:nvPr/>
        </p:nvSpPr>
        <p:spPr>
          <a:xfrm>
            <a:off x="5744905" y="11728694"/>
            <a:ext cx="1059943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7B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click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nodeType="clickEffect" presetSubtype="0" presetID="1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nodeType="clickEffect" presetSubtype="0" presetID="1" grpId="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nodeType="clickEffect" presetSubtype="0" presetID="1" grpId="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Class="entr" nodeType="clickEffect" presetSubtype="0" presetID="1" grpId="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Class="entr" nodeType="clickEffect" presetSubtype="0" presetID="1" grpId="1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Class="entr" nodeType="clickEffect" presetSubtype="0" presetID="1" grpId="1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Class="entr" nodeType="clickEffect" presetSubtype="0" presetID="1" grpId="1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Class="entr" nodeType="clickEffect" presetSubtype="0" presetID="1" grpId="1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01" grpId="1"/>
      <p:bldP build="whole" bldLvl="1" animBg="1" rev="0" advAuto="0" spid="304" grpId="6"/>
      <p:bldP build="whole" bldLvl="1" animBg="1" rev="0" advAuto="0" spid="308" grpId="7"/>
      <p:bldP build="whole" bldLvl="1" animBg="1" rev="0" advAuto="0" spid="310" grpId="12"/>
      <p:bldP build="whole" bldLvl="1" animBg="1" rev="0" advAuto="0" spid="312" grpId="8"/>
      <p:bldP build="whole" bldLvl="1" animBg="1" rev="0" advAuto="0" spid="313" grpId="10"/>
      <p:bldP build="whole" bldLvl="1" animBg="1" rev="0" advAuto="0" spid="311" grpId="13"/>
      <p:bldP build="whole" bldLvl="1" animBg="1" rev="0" advAuto="0" spid="306" grpId="5"/>
      <p:bldP build="whole" bldLvl="1" animBg="1" rev="0" advAuto="0" spid="302" grpId="2"/>
      <p:bldP build="whole" bldLvl="1" animBg="1" rev="0" advAuto="0" spid="307" grpId="11"/>
      <p:bldP build="whole" bldLvl="1" animBg="1" rev="0" advAuto="0" spid="309" grpId="9"/>
      <p:bldP build="whole" bldLvl="1" animBg="1" rev="0" advAuto="0" spid="303" grpId="3"/>
      <p:bldP build="whole" bldLvl="1" animBg="1" rev="0" advAuto="0" spid="305" grpId="4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8GB"/>
          <p:cNvSpPr txBox="1"/>
          <p:nvPr/>
        </p:nvSpPr>
        <p:spPr>
          <a:xfrm>
            <a:off x="4903451" y="8112872"/>
            <a:ext cx="2654301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8GB</a:t>
            </a:r>
          </a:p>
        </p:txBody>
      </p:sp>
      <p:sp>
        <p:nvSpPr>
          <p:cNvPr id="316" name="7B"/>
          <p:cNvSpPr txBox="1"/>
          <p:nvPr/>
        </p:nvSpPr>
        <p:spPr>
          <a:xfrm>
            <a:off x="5385416" y="4745050"/>
            <a:ext cx="1690371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7B</a:t>
            </a:r>
          </a:p>
        </p:txBody>
      </p:sp>
      <p:sp>
        <p:nvSpPr>
          <p:cNvPr id="317" name="16GB"/>
          <p:cNvSpPr txBox="1"/>
          <p:nvPr/>
        </p:nvSpPr>
        <p:spPr>
          <a:xfrm>
            <a:off x="9435491" y="7912119"/>
            <a:ext cx="3360421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16GB</a:t>
            </a:r>
          </a:p>
        </p:txBody>
      </p:sp>
      <p:sp>
        <p:nvSpPr>
          <p:cNvPr id="318" name="13B"/>
          <p:cNvSpPr txBox="1"/>
          <p:nvPr/>
        </p:nvSpPr>
        <p:spPr>
          <a:xfrm>
            <a:off x="10161460" y="4745050"/>
            <a:ext cx="2396491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13B</a:t>
            </a:r>
          </a:p>
        </p:txBody>
      </p:sp>
      <p:sp>
        <p:nvSpPr>
          <p:cNvPr id="319" name="32GB"/>
          <p:cNvSpPr txBox="1"/>
          <p:nvPr/>
        </p:nvSpPr>
        <p:spPr>
          <a:xfrm>
            <a:off x="16120128" y="7912119"/>
            <a:ext cx="3360421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32GB</a:t>
            </a:r>
          </a:p>
        </p:txBody>
      </p:sp>
      <p:sp>
        <p:nvSpPr>
          <p:cNvPr id="320" name="33B"/>
          <p:cNvSpPr txBox="1"/>
          <p:nvPr/>
        </p:nvSpPr>
        <p:spPr>
          <a:xfrm>
            <a:off x="16602093" y="4745050"/>
            <a:ext cx="2396491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33B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click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nodeType="clickEffect" presetSubtype="0" presetID="1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17" grpId="5"/>
      <p:bldP build="whole" bldLvl="1" animBg="1" rev="0" advAuto="0" spid="320" grpId="3"/>
      <p:bldP build="whole" bldLvl="1" animBg="1" rev="0" advAuto="0" spid="319" grpId="6"/>
      <p:bldP build="whole" bldLvl="1" animBg="1" rev="0" advAuto="0" spid="316" grpId="1"/>
      <p:bldP build="whole" bldLvl="1" animBg="1" rev="0" advAuto="0" spid="318" grpId="2"/>
      <p:bldP build="whole" bldLvl="1" animBg="1" rev="0" advAuto="0" spid="315" grpId="4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Deploy"/>
          <p:cNvSpPr txBox="1"/>
          <p:nvPr/>
        </p:nvSpPr>
        <p:spPr>
          <a:xfrm>
            <a:off x="603386" y="598541"/>
            <a:ext cx="4089401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Deploy</a:t>
            </a:r>
          </a:p>
        </p:txBody>
      </p:sp>
      <p:sp>
        <p:nvSpPr>
          <p:cNvPr id="323" name="Update the code"/>
          <p:cNvSpPr txBox="1"/>
          <p:nvPr/>
        </p:nvSpPr>
        <p:spPr>
          <a:xfrm>
            <a:off x="3262766" y="3062341"/>
            <a:ext cx="9641841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Update the code</a:t>
            </a:r>
          </a:p>
        </p:txBody>
      </p:sp>
      <p:sp>
        <p:nvSpPr>
          <p:cNvPr id="324" name="requirements.txt"/>
          <p:cNvSpPr txBox="1"/>
          <p:nvPr/>
        </p:nvSpPr>
        <p:spPr>
          <a:xfrm>
            <a:off x="3415166" y="5754741"/>
            <a:ext cx="9337041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requirements.txt</a:t>
            </a:r>
          </a:p>
        </p:txBody>
      </p:sp>
      <p:sp>
        <p:nvSpPr>
          <p:cNvPr id="325" name="Push to github"/>
          <p:cNvSpPr txBox="1"/>
          <p:nvPr/>
        </p:nvSpPr>
        <p:spPr>
          <a:xfrm>
            <a:off x="3377701" y="8167741"/>
            <a:ext cx="8395971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Push to github</a:t>
            </a:r>
          </a:p>
        </p:txBody>
      </p:sp>
      <p:sp>
        <p:nvSpPr>
          <p:cNvPr id="326" name="Deploy using StreamLit Cloud"/>
          <p:cNvSpPr txBox="1"/>
          <p:nvPr/>
        </p:nvSpPr>
        <p:spPr>
          <a:xfrm>
            <a:off x="3265941" y="10580741"/>
            <a:ext cx="17052291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10000"/>
            </a:lvl1pPr>
          </a:lstStyle>
          <a:p>
            <a:pPr/>
            <a:r>
              <a:t>Deploy using StreamLit Cloud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click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22" grpId="1"/>
      <p:bldP build="whole" bldLvl="1" animBg="1" rev="0" advAuto="0" spid="324" grpId="3"/>
      <p:bldP build="whole" bldLvl="1" animBg="1" rev="0" advAuto="0" spid="323" grpId="2"/>
      <p:bldP build="whole" bldLvl="1" animBg="1" rev="0" advAuto="0" spid="325" grpId="4"/>
      <p:bldP build="whole" bldLvl="1" animBg="1" rev="0" advAuto="0" spid="326" grpId="5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User"/>
          <p:cNvSpPr txBox="1"/>
          <p:nvPr/>
        </p:nvSpPr>
        <p:spPr>
          <a:xfrm>
            <a:off x="1722844" y="7349004"/>
            <a:ext cx="1708405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User</a:t>
            </a:r>
          </a:p>
        </p:txBody>
      </p:sp>
      <p:sp>
        <p:nvSpPr>
          <p:cNvPr id="329" name="Reasoning"/>
          <p:cNvSpPr txBox="1"/>
          <p:nvPr/>
        </p:nvSpPr>
        <p:spPr>
          <a:xfrm>
            <a:off x="16132025" y="3034007"/>
            <a:ext cx="3726943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Reasoning</a:t>
            </a:r>
          </a:p>
        </p:txBody>
      </p:sp>
      <p:sp>
        <p:nvSpPr>
          <p:cNvPr id="330" name="Action"/>
          <p:cNvSpPr txBox="1"/>
          <p:nvPr/>
        </p:nvSpPr>
        <p:spPr>
          <a:xfrm>
            <a:off x="16924257" y="5033829"/>
            <a:ext cx="2287525" cy="99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Action</a:t>
            </a:r>
          </a:p>
        </p:txBody>
      </p:sp>
      <p:sp>
        <p:nvSpPr>
          <p:cNvPr id="331" name="Line"/>
          <p:cNvSpPr/>
          <p:nvPr/>
        </p:nvSpPr>
        <p:spPr>
          <a:xfrm>
            <a:off x="18122496" y="8119538"/>
            <a:ext cx="1" cy="994665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32" name="LLM"/>
          <p:cNvSpPr/>
          <p:nvPr/>
        </p:nvSpPr>
        <p:spPr>
          <a:xfrm>
            <a:off x="9441276" y="5845683"/>
            <a:ext cx="3215448" cy="1626468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LLM</a:t>
            </a:r>
          </a:p>
        </p:txBody>
      </p:sp>
      <p:sp>
        <p:nvSpPr>
          <p:cNvPr id="333" name="Agent"/>
          <p:cNvSpPr txBox="1"/>
          <p:nvPr/>
        </p:nvSpPr>
        <p:spPr>
          <a:xfrm>
            <a:off x="9370275" y="1036458"/>
            <a:ext cx="2974341" cy="1304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8000"/>
            </a:lvl1pPr>
          </a:lstStyle>
          <a:p>
            <a:pPr/>
            <a:r>
              <a:t>Agent</a:t>
            </a:r>
          </a:p>
        </p:txBody>
      </p:sp>
      <p:sp>
        <p:nvSpPr>
          <p:cNvPr id="334" name="Tools"/>
          <p:cNvSpPr/>
          <p:nvPr/>
        </p:nvSpPr>
        <p:spPr>
          <a:xfrm>
            <a:off x="11582951" y="2718105"/>
            <a:ext cx="3215448" cy="1626469"/>
          </a:xfrm>
          <a:prstGeom prst="rect">
            <a:avLst/>
          </a:prstGeom>
          <a:solidFill>
            <a:schemeClr val="accent3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Tools</a:t>
            </a:r>
          </a:p>
        </p:txBody>
      </p:sp>
      <p:sp>
        <p:nvSpPr>
          <p:cNvPr id="335" name="Response"/>
          <p:cNvSpPr txBox="1"/>
          <p:nvPr/>
        </p:nvSpPr>
        <p:spPr>
          <a:xfrm>
            <a:off x="16276956" y="9336584"/>
            <a:ext cx="3529585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Response</a:t>
            </a:r>
          </a:p>
        </p:txBody>
      </p:sp>
      <p:sp>
        <p:nvSpPr>
          <p:cNvPr id="336" name="Line"/>
          <p:cNvSpPr/>
          <p:nvPr/>
        </p:nvSpPr>
        <p:spPr>
          <a:xfrm flipH="1" flipV="1">
            <a:off x="4589052" y="7151103"/>
            <a:ext cx="11577645" cy="2682815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37" name="Line"/>
          <p:cNvSpPr/>
          <p:nvPr/>
        </p:nvSpPr>
        <p:spPr>
          <a:xfrm>
            <a:off x="18068018" y="5996741"/>
            <a:ext cx="1" cy="709166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38" name="Computer"/>
          <p:cNvSpPr/>
          <p:nvPr/>
        </p:nvSpPr>
        <p:spPr>
          <a:xfrm>
            <a:off x="1667299" y="4974164"/>
            <a:ext cx="2287525" cy="18459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5" h="21600" fill="norm" stroke="1" extrusionOk="0">
                <a:moveTo>
                  <a:pt x="464" y="0"/>
                </a:moveTo>
                <a:cubicBezTo>
                  <a:pt x="210" y="0"/>
                  <a:pt x="0" y="261"/>
                  <a:pt x="0" y="575"/>
                </a:cubicBezTo>
                <a:lnTo>
                  <a:pt x="0" y="17777"/>
                </a:lnTo>
                <a:cubicBezTo>
                  <a:pt x="0" y="18091"/>
                  <a:pt x="210" y="18354"/>
                  <a:pt x="464" y="18354"/>
                </a:cubicBezTo>
                <a:lnTo>
                  <a:pt x="9148" y="18354"/>
                </a:lnTo>
                <a:lnTo>
                  <a:pt x="9116" y="18513"/>
                </a:lnTo>
                <a:lnTo>
                  <a:pt x="8753" y="20763"/>
                </a:lnTo>
                <a:lnTo>
                  <a:pt x="7690" y="20763"/>
                </a:lnTo>
                <a:lnTo>
                  <a:pt x="7690" y="21600"/>
                </a:lnTo>
                <a:lnTo>
                  <a:pt x="10486" y="21600"/>
                </a:lnTo>
                <a:lnTo>
                  <a:pt x="11107" y="21600"/>
                </a:lnTo>
                <a:lnTo>
                  <a:pt x="13905" y="21600"/>
                </a:lnTo>
                <a:lnTo>
                  <a:pt x="13905" y="20763"/>
                </a:lnTo>
                <a:lnTo>
                  <a:pt x="12842" y="20763"/>
                </a:lnTo>
                <a:lnTo>
                  <a:pt x="12479" y="18513"/>
                </a:lnTo>
                <a:lnTo>
                  <a:pt x="12452" y="18354"/>
                </a:lnTo>
                <a:lnTo>
                  <a:pt x="21131" y="18354"/>
                </a:lnTo>
                <a:cubicBezTo>
                  <a:pt x="21384" y="18354"/>
                  <a:pt x="21595" y="18091"/>
                  <a:pt x="21595" y="17777"/>
                </a:cubicBezTo>
                <a:lnTo>
                  <a:pt x="21595" y="575"/>
                </a:lnTo>
                <a:cubicBezTo>
                  <a:pt x="21600" y="261"/>
                  <a:pt x="21389" y="0"/>
                  <a:pt x="21136" y="0"/>
                </a:cubicBezTo>
                <a:lnTo>
                  <a:pt x="464" y="0"/>
                </a:lnTo>
                <a:close/>
                <a:moveTo>
                  <a:pt x="10800" y="542"/>
                </a:moveTo>
                <a:cubicBezTo>
                  <a:pt x="10913" y="542"/>
                  <a:pt x="11006" y="650"/>
                  <a:pt x="11006" y="797"/>
                </a:cubicBezTo>
                <a:cubicBezTo>
                  <a:pt x="11006" y="937"/>
                  <a:pt x="10913" y="1052"/>
                  <a:pt x="10800" y="1052"/>
                </a:cubicBezTo>
                <a:cubicBezTo>
                  <a:pt x="10686" y="1052"/>
                  <a:pt x="10594" y="937"/>
                  <a:pt x="10594" y="797"/>
                </a:cubicBezTo>
                <a:cubicBezTo>
                  <a:pt x="10594" y="656"/>
                  <a:pt x="10686" y="542"/>
                  <a:pt x="10800" y="542"/>
                </a:cubicBezTo>
                <a:close/>
                <a:moveTo>
                  <a:pt x="1242" y="1734"/>
                </a:moveTo>
                <a:lnTo>
                  <a:pt x="20358" y="1734"/>
                </a:lnTo>
                <a:lnTo>
                  <a:pt x="20358" y="15233"/>
                </a:lnTo>
                <a:lnTo>
                  <a:pt x="1242" y="15233"/>
                </a:lnTo>
                <a:lnTo>
                  <a:pt x="1242" y="1734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339" name="Line"/>
          <p:cNvSpPr/>
          <p:nvPr/>
        </p:nvSpPr>
        <p:spPr>
          <a:xfrm flipV="1">
            <a:off x="13042496" y="4722191"/>
            <a:ext cx="3512912" cy="2213027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40" name="Input"/>
          <p:cNvSpPr txBox="1"/>
          <p:nvPr/>
        </p:nvSpPr>
        <p:spPr>
          <a:xfrm>
            <a:off x="6045796" y="6161584"/>
            <a:ext cx="1850899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Input</a:t>
            </a:r>
          </a:p>
        </p:txBody>
      </p:sp>
      <p:sp>
        <p:nvSpPr>
          <p:cNvPr id="341" name="Rectangle"/>
          <p:cNvSpPr/>
          <p:nvPr/>
        </p:nvSpPr>
        <p:spPr>
          <a:xfrm>
            <a:off x="8941351" y="507068"/>
            <a:ext cx="13234954" cy="11179899"/>
          </a:xfrm>
          <a:prstGeom prst="rect">
            <a:avLst/>
          </a:prstGeom>
          <a:ln w="63500">
            <a:solidFill>
              <a:srgbClr val="48A6F5"/>
            </a:solidFill>
            <a:miter lim="400000"/>
          </a:ln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342" name="Observe"/>
          <p:cNvSpPr txBox="1"/>
          <p:nvPr/>
        </p:nvSpPr>
        <p:spPr>
          <a:xfrm>
            <a:off x="16505786" y="7033652"/>
            <a:ext cx="297942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Observe</a:t>
            </a:r>
          </a:p>
        </p:txBody>
      </p:sp>
      <p:sp>
        <p:nvSpPr>
          <p:cNvPr id="343" name="Line"/>
          <p:cNvSpPr/>
          <p:nvPr/>
        </p:nvSpPr>
        <p:spPr>
          <a:xfrm flipH="1" flipV="1">
            <a:off x="19759428" y="3709139"/>
            <a:ext cx="659311" cy="231672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44" name="Line"/>
          <p:cNvSpPr/>
          <p:nvPr/>
        </p:nvSpPr>
        <p:spPr>
          <a:xfrm>
            <a:off x="4685896" y="6224017"/>
            <a:ext cx="4024307" cy="1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48" name="Connection Line"/>
          <p:cNvSpPr/>
          <p:nvPr/>
        </p:nvSpPr>
        <p:spPr>
          <a:xfrm>
            <a:off x="19950862" y="3941599"/>
            <a:ext cx="1789244" cy="3802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60" h="21600" fill="norm" stroke="1" extrusionOk="0">
                <a:moveTo>
                  <a:pt x="0" y="21600"/>
                </a:moveTo>
                <a:cubicBezTo>
                  <a:pt x="20362" y="12699"/>
                  <a:pt x="21600" y="5499"/>
                  <a:pt x="3713" y="0"/>
                </a:cubicBez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/>
          <a:lstStyle/>
          <a:p>
            <a:pPr/>
          </a:p>
        </p:txBody>
      </p:sp>
      <p:sp>
        <p:nvSpPr>
          <p:cNvPr id="346" name="Line"/>
          <p:cNvSpPr/>
          <p:nvPr/>
        </p:nvSpPr>
        <p:spPr>
          <a:xfrm>
            <a:off x="18249496" y="4548941"/>
            <a:ext cx="1" cy="709166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47" name="Prompt"/>
          <p:cNvSpPr txBox="1"/>
          <p:nvPr/>
        </p:nvSpPr>
        <p:spPr>
          <a:xfrm>
            <a:off x="9906076" y="4722191"/>
            <a:ext cx="2627377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Prompt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click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nodeType="clickEffect" presetSubtype="0" presetID="1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nodeType="clickEffect" presetSubtype="0" presetID="1" grpId="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nodeType="clickEffect" presetSubtype="0" presetID="1" grpId="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Class="entr" nodeType="clickEffect" presetSubtype="0" presetID="1" grpId="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Class="entr" nodeType="clickEffect" presetSubtype="0" presetID="1" grpId="1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Class="entr" nodeType="clickEffect" presetSubtype="0" presetID="1" grpId="1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Class="entr" nodeType="clickEffect" presetSubtype="0" presetID="1" grpId="1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Class="entr" nodeType="clickEffect" presetSubtype="0" presetID="1" grpId="1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Class="entr" nodeType="clickEffect" presetSubtype="0" presetID="1" grpId="1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Class="entr" nodeType="clickEffect" presetSubtype="0" presetID="1" grpId="1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fill="hold"/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Class="entr" nodeType="clickEffect" presetSubtype="0" presetID="1" grpId="1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Class="entr" nodeType="clickEffect" presetSubtype="0" presetID="1" grpId="1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Class="entr" nodeType="clickEffect" presetSubtype="0" presetID="1" grpId="1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4" fill="hold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Class="entr" nodeType="clickEffect" presetSubtype="0" presetID="1" grpId="1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Class="entr" nodeType="clickEffect" presetSubtype="0" presetID="1" grpId="2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" fill="hold"/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29" grpId="11"/>
      <p:bldP build="whole" bldLvl="1" animBg="1" rev="0" advAuto="0" spid="338" grpId="6"/>
      <p:bldP build="whole" bldLvl="1" animBg="1" rev="0" advAuto="0" spid="346" grpId="12"/>
      <p:bldP build="whole" bldLvl="1" animBg="1" rev="0" advAuto="0" spid="335" grpId="19"/>
      <p:bldP build="whole" bldLvl="1" animBg="1" rev="0" advAuto="0" spid="348" grpId="16"/>
      <p:bldP build="whole" bldLvl="1" animBg="1" rev="0" advAuto="0" spid="337" grpId="14"/>
      <p:bldP build="whole" bldLvl="1" animBg="1" rev="0" advAuto="0" spid="328" grpId="7"/>
      <p:bldP build="whole" bldLvl="1" animBg="1" rev="0" advAuto="0" spid="342" grpId="15"/>
      <p:bldP build="whole" bldLvl="1" animBg="1" rev="0" advAuto="0" spid="343" grpId="17"/>
      <p:bldP build="whole" bldLvl="1" animBg="1" rev="0" advAuto="0" spid="331" grpId="18"/>
      <p:bldP build="whole" bldLvl="1" animBg="1" rev="0" advAuto="0" spid="330" grpId="13"/>
      <p:bldP build="whole" bldLvl="1" animBg="1" rev="0" advAuto="0" spid="340" grpId="9"/>
      <p:bldP build="whole" bldLvl="1" animBg="1" rev="0" advAuto="0" spid="332" grpId="3"/>
      <p:bldP build="whole" bldLvl="1" animBg="1" rev="0" advAuto="0" spid="334" grpId="5"/>
      <p:bldP build="whole" bldLvl="1" animBg="1" rev="0" advAuto="0" spid="341" grpId="2"/>
      <p:bldP build="whole" bldLvl="1" animBg="1" rev="0" advAuto="0" spid="333" grpId="1"/>
      <p:bldP build="whole" bldLvl="1" animBg="1" rev="0" advAuto="0" spid="336" grpId="20"/>
      <p:bldP build="whole" bldLvl="1" animBg="1" rev="0" advAuto="0" spid="347" grpId="4"/>
      <p:bldP build="whole" bldLvl="1" animBg="1" rev="0" advAuto="0" spid="344" grpId="8"/>
      <p:bldP build="whole" bldLvl="1" animBg="1" rev="0" advAuto="0" spid="339" grpId="1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User"/>
          <p:cNvSpPr txBox="1"/>
          <p:nvPr/>
        </p:nvSpPr>
        <p:spPr>
          <a:xfrm>
            <a:off x="1747755" y="8109986"/>
            <a:ext cx="1708405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User</a:t>
            </a:r>
          </a:p>
        </p:txBody>
      </p:sp>
      <p:sp>
        <p:nvSpPr>
          <p:cNvPr id="351" name="Reasoning"/>
          <p:cNvSpPr txBox="1"/>
          <p:nvPr/>
        </p:nvSpPr>
        <p:spPr>
          <a:xfrm>
            <a:off x="16625318" y="3771278"/>
            <a:ext cx="3726943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Reasoning</a:t>
            </a:r>
          </a:p>
        </p:txBody>
      </p:sp>
      <p:sp>
        <p:nvSpPr>
          <p:cNvPr id="352" name="Action"/>
          <p:cNvSpPr txBox="1"/>
          <p:nvPr/>
        </p:nvSpPr>
        <p:spPr>
          <a:xfrm>
            <a:off x="17417549" y="5771100"/>
            <a:ext cx="2287525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Action</a:t>
            </a:r>
          </a:p>
        </p:txBody>
      </p:sp>
      <p:sp>
        <p:nvSpPr>
          <p:cNvPr id="353" name="Line"/>
          <p:cNvSpPr/>
          <p:nvPr/>
        </p:nvSpPr>
        <p:spPr>
          <a:xfrm>
            <a:off x="18615788" y="8856808"/>
            <a:ext cx="1" cy="994665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54" name="LLM"/>
          <p:cNvSpPr/>
          <p:nvPr/>
        </p:nvSpPr>
        <p:spPr>
          <a:xfrm>
            <a:off x="9790038" y="7353673"/>
            <a:ext cx="3215449" cy="1626469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LLM</a:t>
            </a:r>
          </a:p>
        </p:txBody>
      </p:sp>
      <p:sp>
        <p:nvSpPr>
          <p:cNvPr id="355" name="Agent"/>
          <p:cNvSpPr txBox="1"/>
          <p:nvPr/>
        </p:nvSpPr>
        <p:spPr>
          <a:xfrm>
            <a:off x="9395187" y="1797440"/>
            <a:ext cx="2974341" cy="1304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8000"/>
            </a:lvl1pPr>
          </a:lstStyle>
          <a:p>
            <a:pPr/>
            <a:r>
              <a:t>Agent</a:t>
            </a:r>
          </a:p>
        </p:txBody>
      </p:sp>
      <p:sp>
        <p:nvSpPr>
          <p:cNvPr id="356" name="Tools"/>
          <p:cNvSpPr/>
          <p:nvPr/>
        </p:nvSpPr>
        <p:spPr>
          <a:xfrm>
            <a:off x="13444945" y="7669575"/>
            <a:ext cx="2627377" cy="994665"/>
          </a:xfrm>
          <a:prstGeom prst="rect">
            <a:avLst/>
          </a:prstGeom>
          <a:solidFill>
            <a:schemeClr val="accent3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pPr/>
            <a:r>
              <a:t>Tools</a:t>
            </a:r>
          </a:p>
        </p:txBody>
      </p:sp>
      <p:sp>
        <p:nvSpPr>
          <p:cNvPr id="357" name="Response"/>
          <p:cNvSpPr txBox="1"/>
          <p:nvPr/>
        </p:nvSpPr>
        <p:spPr>
          <a:xfrm>
            <a:off x="16770248" y="10073855"/>
            <a:ext cx="3529585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Response</a:t>
            </a:r>
          </a:p>
        </p:txBody>
      </p:sp>
      <p:sp>
        <p:nvSpPr>
          <p:cNvPr id="358" name="Line"/>
          <p:cNvSpPr/>
          <p:nvPr/>
        </p:nvSpPr>
        <p:spPr>
          <a:xfrm flipH="1" flipV="1">
            <a:off x="4613964" y="7912085"/>
            <a:ext cx="11577645" cy="2682815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59" name="Line"/>
          <p:cNvSpPr/>
          <p:nvPr/>
        </p:nvSpPr>
        <p:spPr>
          <a:xfrm>
            <a:off x="18561311" y="6734012"/>
            <a:ext cx="1" cy="709165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60" name="Computer"/>
          <p:cNvSpPr/>
          <p:nvPr/>
        </p:nvSpPr>
        <p:spPr>
          <a:xfrm>
            <a:off x="1692211" y="5735146"/>
            <a:ext cx="2287524" cy="184599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5" h="21600" fill="norm" stroke="1" extrusionOk="0">
                <a:moveTo>
                  <a:pt x="464" y="0"/>
                </a:moveTo>
                <a:cubicBezTo>
                  <a:pt x="210" y="0"/>
                  <a:pt x="0" y="261"/>
                  <a:pt x="0" y="575"/>
                </a:cubicBezTo>
                <a:lnTo>
                  <a:pt x="0" y="17777"/>
                </a:lnTo>
                <a:cubicBezTo>
                  <a:pt x="0" y="18091"/>
                  <a:pt x="210" y="18354"/>
                  <a:pt x="464" y="18354"/>
                </a:cubicBezTo>
                <a:lnTo>
                  <a:pt x="9148" y="18354"/>
                </a:lnTo>
                <a:lnTo>
                  <a:pt x="9116" y="18513"/>
                </a:lnTo>
                <a:lnTo>
                  <a:pt x="8753" y="20763"/>
                </a:lnTo>
                <a:lnTo>
                  <a:pt x="7690" y="20763"/>
                </a:lnTo>
                <a:lnTo>
                  <a:pt x="7690" y="21600"/>
                </a:lnTo>
                <a:lnTo>
                  <a:pt x="10486" y="21600"/>
                </a:lnTo>
                <a:lnTo>
                  <a:pt x="11107" y="21600"/>
                </a:lnTo>
                <a:lnTo>
                  <a:pt x="13905" y="21600"/>
                </a:lnTo>
                <a:lnTo>
                  <a:pt x="13905" y="20763"/>
                </a:lnTo>
                <a:lnTo>
                  <a:pt x="12842" y="20763"/>
                </a:lnTo>
                <a:lnTo>
                  <a:pt x="12479" y="18513"/>
                </a:lnTo>
                <a:lnTo>
                  <a:pt x="12452" y="18354"/>
                </a:lnTo>
                <a:lnTo>
                  <a:pt x="21131" y="18354"/>
                </a:lnTo>
                <a:cubicBezTo>
                  <a:pt x="21384" y="18354"/>
                  <a:pt x="21595" y="18091"/>
                  <a:pt x="21595" y="17777"/>
                </a:cubicBezTo>
                <a:lnTo>
                  <a:pt x="21595" y="575"/>
                </a:lnTo>
                <a:cubicBezTo>
                  <a:pt x="21600" y="261"/>
                  <a:pt x="21389" y="0"/>
                  <a:pt x="21136" y="0"/>
                </a:cubicBezTo>
                <a:lnTo>
                  <a:pt x="464" y="0"/>
                </a:lnTo>
                <a:close/>
                <a:moveTo>
                  <a:pt x="10800" y="542"/>
                </a:moveTo>
                <a:cubicBezTo>
                  <a:pt x="10913" y="542"/>
                  <a:pt x="11006" y="650"/>
                  <a:pt x="11006" y="797"/>
                </a:cubicBezTo>
                <a:cubicBezTo>
                  <a:pt x="11006" y="937"/>
                  <a:pt x="10913" y="1052"/>
                  <a:pt x="10800" y="1052"/>
                </a:cubicBezTo>
                <a:cubicBezTo>
                  <a:pt x="10686" y="1052"/>
                  <a:pt x="10594" y="937"/>
                  <a:pt x="10594" y="797"/>
                </a:cubicBezTo>
                <a:cubicBezTo>
                  <a:pt x="10594" y="656"/>
                  <a:pt x="10686" y="542"/>
                  <a:pt x="10800" y="542"/>
                </a:cubicBezTo>
                <a:close/>
                <a:moveTo>
                  <a:pt x="1242" y="1734"/>
                </a:moveTo>
                <a:lnTo>
                  <a:pt x="20358" y="1734"/>
                </a:lnTo>
                <a:lnTo>
                  <a:pt x="20358" y="15233"/>
                </a:lnTo>
                <a:lnTo>
                  <a:pt x="1242" y="15233"/>
                </a:lnTo>
                <a:lnTo>
                  <a:pt x="1242" y="1734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361" name="Line"/>
          <p:cNvSpPr/>
          <p:nvPr/>
        </p:nvSpPr>
        <p:spPr>
          <a:xfrm flipV="1">
            <a:off x="13067408" y="4814328"/>
            <a:ext cx="4006576" cy="2881872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62" name="Task"/>
          <p:cNvSpPr txBox="1"/>
          <p:nvPr/>
        </p:nvSpPr>
        <p:spPr>
          <a:xfrm>
            <a:off x="6169768" y="6922566"/>
            <a:ext cx="1652779" cy="99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Task</a:t>
            </a:r>
          </a:p>
        </p:txBody>
      </p:sp>
      <p:sp>
        <p:nvSpPr>
          <p:cNvPr id="363" name="Rectangle"/>
          <p:cNvSpPr/>
          <p:nvPr/>
        </p:nvSpPr>
        <p:spPr>
          <a:xfrm>
            <a:off x="8966262" y="1268050"/>
            <a:ext cx="13234955" cy="11179900"/>
          </a:xfrm>
          <a:prstGeom prst="rect">
            <a:avLst/>
          </a:prstGeom>
          <a:ln w="63500">
            <a:solidFill>
              <a:srgbClr val="48A6F5"/>
            </a:solidFill>
            <a:miter lim="400000"/>
          </a:ln>
        </p:spPr>
        <p:txBody>
          <a:bodyPr lIns="0" tIns="0" rIns="0" bIns="0" anchor="ctr"/>
          <a:lstStyle/>
          <a:p>
            <a:pPr>
              <a:defRPr b="0"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</a:p>
        </p:txBody>
      </p:sp>
      <p:sp>
        <p:nvSpPr>
          <p:cNvPr id="364" name="Observe"/>
          <p:cNvSpPr txBox="1"/>
          <p:nvPr/>
        </p:nvSpPr>
        <p:spPr>
          <a:xfrm>
            <a:off x="16999079" y="7770922"/>
            <a:ext cx="2979421" cy="99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Observe</a:t>
            </a:r>
          </a:p>
        </p:txBody>
      </p:sp>
      <p:sp>
        <p:nvSpPr>
          <p:cNvPr id="365" name="Line"/>
          <p:cNvSpPr/>
          <p:nvPr/>
        </p:nvSpPr>
        <p:spPr>
          <a:xfrm flipH="1" flipV="1">
            <a:off x="20252721" y="4446410"/>
            <a:ext cx="659310" cy="231672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66" name="Line"/>
          <p:cNvSpPr/>
          <p:nvPr/>
        </p:nvSpPr>
        <p:spPr>
          <a:xfrm>
            <a:off x="4710808" y="6985000"/>
            <a:ext cx="4024306" cy="0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73" name="Connection Line"/>
          <p:cNvSpPr/>
          <p:nvPr/>
        </p:nvSpPr>
        <p:spPr>
          <a:xfrm>
            <a:off x="20444155" y="4678870"/>
            <a:ext cx="1789243" cy="3802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60" h="21600" fill="norm" stroke="1" extrusionOk="0">
                <a:moveTo>
                  <a:pt x="0" y="21600"/>
                </a:moveTo>
                <a:cubicBezTo>
                  <a:pt x="20362" y="12699"/>
                  <a:pt x="21600" y="5499"/>
                  <a:pt x="3713" y="0"/>
                </a:cubicBez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/>
          <a:lstStyle/>
          <a:p>
            <a:pPr/>
          </a:p>
        </p:txBody>
      </p:sp>
      <p:sp>
        <p:nvSpPr>
          <p:cNvPr id="368" name="Line"/>
          <p:cNvSpPr/>
          <p:nvPr/>
        </p:nvSpPr>
        <p:spPr>
          <a:xfrm>
            <a:off x="18742788" y="5286212"/>
            <a:ext cx="1" cy="709166"/>
          </a:xfrm>
          <a:prstGeom prst="line">
            <a:avLst/>
          </a:prstGeom>
          <a:ln w="635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69" name="Prompt"/>
          <p:cNvSpPr txBox="1"/>
          <p:nvPr/>
        </p:nvSpPr>
        <p:spPr>
          <a:xfrm>
            <a:off x="9657874" y="6360667"/>
            <a:ext cx="2627377" cy="99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6000"/>
            </a:lvl1pPr>
          </a:lstStyle>
          <a:p>
            <a:pPr/>
            <a:r>
              <a:t>Prompt</a:t>
            </a:r>
          </a:p>
        </p:txBody>
      </p:sp>
      <p:sp>
        <p:nvSpPr>
          <p:cNvPr id="370" name="Wikipedia"/>
          <p:cNvSpPr txBox="1"/>
          <p:nvPr/>
        </p:nvSpPr>
        <p:spPr>
          <a:xfrm>
            <a:off x="19420253" y="5292306"/>
            <a:ext cx="2334769" cy="696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Wikipedia</a:t>
            </a:r>
          </a:p>
        </p:txBody>
      </p:sp>
      <p:sp>
        <p:nvSpPr>
          <p:cNvPr id="371" name="Wikipedia"/>
          <p:cNvSpPr txBox="1"/>
          <p:nvPr/>
        </p:nvSpPr>
        <p:spPr>
          <a:xfrm>
            <a:off x="14873919" y="6763818"/>
            <a:ext cx="2334769" cy="696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Wikipedia</a:t>
            </a:r>
          </a:p>
        </p:txBody>
      </p:sp>
      <p:sp>
        <p:nvSpPr>
          <p:cNvPr id="372" name="Search"/>
          <p:cNvSpPr txBox="1"/>
          <p:nvPr/>
        </p:nvSpPr>
        <p:spPr>
          <a:xfrm>
            <a:off x="15274702" y="6309654"/>
            <a:ext cx="1704341" cy="696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0" sz="4000"/>
            </a:lvl1pPr>
          </a:lstStyle>
          <a:p>
            <a:pPr/>
            <a:r>
              <a:t>Search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click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nodeType="clickEffect" presetSubtype="0" presetID="1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nodeType="clickEffect" presetSubtype="0" presetID="1" grpId="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nodeType="clickEffect" presetSubtype="0" presetID="1" grpId="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Class="entr" nodeType="clickEffect" presetSubtype="0" presetID="1" grpId="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Class="entr" nodeType="clickEffect" presetSubtype="0" presetID="1" grpId="1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Class="entr" nodeType="clickEffect" presetSubtype="0" presetID="1" grpId="1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Class="entr" nodeType="clickEffect" presetSubtype="0" presetID="1" grpId="1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Class="entr" nodeType="clickEffect" presetSubtype="0" presetID="1" grpId="1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Class="entr" nodeType="clickEffect" presetSubtype="0" presetID="1" grpId="1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Class="entr" nodeType="clickEffect" presetSubtype="0" presetID="1" grpId="1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fill="hold"/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Class="entr" nodeType="clickEffect" presetSubtype="0" presetID="1" grpId="1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Class="entr" nodeType="clickEffect" presetSubtype="0" presetID="1" grpId="1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Class="entr" nodeType="clickEffect" presetSubtype="0" presetID="1" grpId="1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4" fill="hold"/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Class="entr" nodeType="clickEffect" presetSubtype="0" presetID="1" grpId="1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Class="entr" nodeType="clickEffect" presetSubtype="0" presetID="1" grpId="2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" fill="hold"/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Class="entr" nodeType="clickEffect" presetSubtype="0" presetID="1" grpId="2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6" fill="hold"/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Class="entr" nodeType="clickEffect" presetSubtype="0" presetID="1" grpId="2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" fill="hold"/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Class="entr" nodeType="clickEffect" presetSubtype="0" presetID="1" grpId="2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4" fill="hold"/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58" grpId="23"/>
      <p:bldP build="whole" bldLvl="1" animBg="1" rev="0" advAuto="0" spid="351" grpId="13"/>
      <p:bldP build="whole" bldLvl="1" animBg="1" rev="0" advAuto="0" spid="362" grpId="11"/>
      <p:bldP build="whole" bldLvl="1" animBg="1" rev="0" advAuto="0" spid="369" grpId="4"/>
      <p:bldP build="whole" bldLvl="1" animBg="1" rev="0" advAuto="0" spid="356" grpId="5"/>
      <p:bldP build="whole" bldLvl="1" animBg="1" rev="0" advAuto="0" spid="363" grpId="2"/>
      <p:bldP build="whole" bldLvl="1" animBg="1" rev="0" advAuto="0" spid="352" grpId="15"/>
      <p:bldP build="whole" bldLvl="1" animBg="1" rev="0" advAuto="0" spid="361" grpId="12"/>
      <p:bldP build="whole" bldLvl="1" animBg="1" rev="0" advAuto="0" spid="372" grpId="7"/>
      <p:bldP build="whole" bldLvl="1" animBg="1" rev="0" advAuto="0" spid="350" grpId="9"/>
      <p:bldP build="whole" bldLvl="1" animBg="1" rev="0" advAuto="0" spid="353" grpId="21"/>
      <p:bldP build="whole" bldLvl="1" animBg="1" rev="0" advAuto="0" spid="360" grpId="8"/>
      <p:bldP build="whole" bldLvl="1" animBg="1" rev="0" advAuto="0" spid="357" grpId="22"/>
      <p:bldP build="whole" bldLvl="1" animBg="1" rev="0" advAuto="0" spid="368" grpId="14"/>
      <p:bldP build="whole" bldLvl="1" animBg="1" rev="0" advAuto="0" spid="366" grpId="10"/>
      <p:bldP build="whole" bldLvl="1" animBg="1" rev="0" advAuto="0" spid="371" grpId="6"/>
      <p:bldP build="whole" bldLvl="1" animBg="1" rev="0" advAuto="0" spid="359" grpId="17"/>
      <p:bldP build="whole" bldLvl="1" animBg="1" rev="0" advAuto="0" spid="370" grpId="16"/>
      <p:bldP build="whole" bldLvl="1" animBg="1" rev="0" advAuto="0" spid="364" grpId="18"/>
      <p:bldP build="whole" bldLvl="1" animBg="1" rev="0" advAuto="0" spid="355" grpId="1"/>
      <p:bldP build="whole" bldLvl="1" animBg="1" rev="0" advAuto="0" spid="354" grpId="3"/>
      <p:bldP build="whole" bldLvl="1" animBg="1" rev="0" advAuto="0" spid="365" grpId="20"/>
      <p:bldP build="whole" bldLvl="1" animBg="1" rev="0" advAuto="0" spid="373" grpId="19"/>
    </p:bldLst>
  </p:timing>
</p:sld>
</file>

<file path=ppt/theme/theme1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1" baseline="0" cap="none" i="0" spc="0" strike="noStrike" sz="30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1" baseline="0" cap="none" i="0" spc="0" strike="noStrike" sz="30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