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</p:sldIdLst>
  <p:sldSz cx="24384000" cy="13716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914D450-A400-44B9-8F46-DE2DF406BB5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BBAE61-657A-470B-A095-ABBC0E8DF21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FA5A89-FBC9-4EA5-98DA-2CC872801373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FE0CBAB-6E7A-4283-A885-78BCCB85024A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078ED9-D615-4704-AB99-EB8248DE616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E1BE508-706E-4EFD-8EB7-6CE84FA8ECFA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DCC1C3-A6DD-41EE-9182-A90BB1B01D9C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68D5CA3-7018-4E72-AB5A-05E697B9C9C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C2F4B7C-2218-4916-8195-814DA628CB6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DF768C3-3FBC-4D09-A235-0A6225AB29D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E716A24-5B0E-49AE-BBA9-B2E3B3D72874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6CFC43D-1D62-41B8-A8D2-06759F4450E3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AB36C5F-63F6-484F-B53A-9C2D4255FCA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15300360" y="7048440"/>
            <a:ext cx="8324640" cy="554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5760800" y="863640"/>
            <a:ext cx="7403760" cy="740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-990720" y="1130400"/>
            <a:ext cx="17201880" cy="1146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1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2387520" y="8953560"/>
            <a:ext cx="19621080" cy="8056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32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–</a:t>
            </a:r>
            <a:r>
              <a:rPr b="0" i="1" lang="en-US" sz="32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Johnny Appleseed</a:t>
            </a:r>
            <a:endParaRPr b="0" lang="en-US" sz="3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387520" y="2460960"/>
            <a:ext cx="19621080" cy="8056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“</a:t>
            </a:r>
            <a:r>
              <a:rPr b="0" lang="en-US" sz="48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Type a quote here.” 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2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body"/>
          </p:nvPr>
        </p:nvSpPr>
        <p:spPr>
          <a:xfrm>
            <a:off x="-50760" y="-1270080"/>
            <a:ext cx="24485400" cy="1632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3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Num" idx="4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</a:t>
            </a: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edit the </a:t>
            </a: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title text </a:t>
            </a: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2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2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2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52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778040" y="2298600"/>
            <a:ext cx="20827800" cy="4647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</a:t>
            </a: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i</a:t>
            </a: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</a:t>
            </a: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l</a:t>
            </a: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e</a:t>
            </a: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 </a:t>
            </a: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</a:t>
            </a: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e</a:t>
            </a: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x</a:t>
            </a: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778040" y="7074000"/>
            <a:ext cx="20827800" cy="1587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One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Two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Three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Four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Five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5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3125880" y="-393840"/>
            <a:ext cx="18135360" cy="120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635040" y="9512280"/>
            <a:ext cx="23113800" cy="2006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Title </a:t>
            </a: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Text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35040" y="11442600"/>
            <a:ext cx="23113800" cy="1587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One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Two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Three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Four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Five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6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778040" y="4533840"/>
            <a:ext cx="20827800" cy="4647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Title Text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7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12827160" y="952560"/>
            <a:ext cx="11467800" cy="1146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1650960" y="952560"/>
            <a:ext cx="10223280" cy="55494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4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Title Text</a:t>
            </a:r>
            <a:endParaRPr b="0" lang="en-US" sz="8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1650960" y="6527880"/>
            <a:ext cx="10223280" cy="5727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One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Two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Three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Four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Five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8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689120" y="355680"/>
            <a:ext cx="21005280" cy="22856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Title Text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9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689120" y="355680"/>
            <a:ext cx="21005280" cy="22856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Title Text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689120" y="3149640"/>
            <a:ext cx="21005280" cy="92959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6350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One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1" marL="127008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Two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2" marL="190512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Three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3" marL="254016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Four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4" marL="31748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Five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0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body"/>
          </p:nvPr>
        </p:nvSpPr>
        <p:spPr>
          <a:xfrm>
            <a:off x="10960200" y="3149640"/>
            <a:ext cx="13944240" cy="929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1689120" y="355680"/>
            <a:ext cx="21005280" cy="22856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Title Text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689120" y="3149640"/>
            <a:ext cx="10223280" cy="92959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55872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One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1" marL="111744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Two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2" marL="167652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Three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3" marL="223524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Four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4" marL="279396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Five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11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body"/>
          </p:nvPr>
        </p:nvSpPr>
        <p:spPr>
          <a:xfrm>
            <a:off x="1689120" y="1778040"/>
            <a:ext cx="21005280" cy="10159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6350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One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1" marL="127008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Two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2" marL="190512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Three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3" marL="254016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Four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4" marL="31748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Body Level Five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12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Langchain"/>
          <p:cNvSpPr/>
          <p:nvPr/>
        </p:nvSpPr>
        <p:spPr>
          <a:xfrm>
            <a:off x="5292000" y="1478160"/>
            <a:ext cx="626112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Langchain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Large      Language…"/>
          <p:cNvSpPr/>
          <p:nvPr/>
        </p:nvSpPr>
        <p:spPr>
          <a:xfrm>
            <a:off x="16427880" y="5353920"/>
            <a:ext cx="4118760" cy="3674880"/>
          </a:xfrm>
          <a:prstGeom prst="roundRect">
            <a:avLst>
              <a:gd name="adj" fmla="val 16813"/>
            </a:avLst>
          </a:pr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Large      Language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Model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Line"/>
          <p:cNvSpPr/>
          <p:nvPr/>
        </p:nvSpPr>
        <p:spPr>
          <a:xfrm flipH="1">
            <a:off x="4398480" y="7723440"/>
            <a:ext cx="121212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65" name="Input"/>
          <p:cNvSpPr/>
          <p:nvPr/>
        </p:nvSpPr>
        <p:spPr>
          <a:xfrm>
            <a:off x="12947040" y="5442840"/>
            <a:ext cx="204444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Input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Line"/>
          <p:cNvSpPr/>
          <p:nvPr/>
        </p:nvSpPr>
        <p:spPr>
          <a:xfrm>
            <a:off x="4433040" y="6658920"/>
            <a:ext cx="130176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67" name="Output"/>
          <p:cNvSpPr/>
          <p:nvPr/>
        </p:nvSpPr>
        <p:spPr>
          <a:xfrm>
            <a:off x="12390480" y="8375400"/>
            <a:ext cx="265680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Output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EMINI"/>
          <p:cNvSpPr/>
          <p:nvPr/>
        </p:nvSpPr>
        <p:spPr>
          <a:xfrm>
            <a:off x="21029040" y="5800680"/>
            <a:ext cx="286560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GEMINI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PT"/>
          <p:cNvSpPr/>
          <p:nvPr/>
        </p:nvSpPr>
        <p:spPr>
          <a:xfrm>
            <a:off x="21150000" y="4677840"/>
            <a:ext cx="15411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GPT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LLAMA"/>
          <p:cNvSpPr/>
          <p:nvPr/>
        </p:nvSpPr>
        <p:spPr>
          <a:xfrm>
            <a:off x="20890440" y="7832880"/>
            <a:ext cx="25653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LLAMA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MISTRAL"/>
          <p:cNvSpPr/>
          <p:nvPr/>
        </p:nvSpPr>
        <p:spPr>
          <a:xfrm>
            <a:off x="20834280" y="8811720"/>
            <a:ext cx="325440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MISTRAL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ounded Rectangle"/>
          <p:cNvSpPr/>
          <p:nvPr/>
        </p:nvSpPr>
        <p:spPr>
          <a:xfrm>
            <a:off x="5834880" y="3551760"/>
            <a:ext cx="5175000" cy="7278840"/>
          </a:xfrm>
          <a:prstGeom prst="roundRect">
            <a:avLst>
              <a:gd name="adj" fmla="val 11939"/>
            </a:avLst>
          </a:prstGeom>
          <a:noFill/>
          <a:ln w="127000">
            <a:solidFill>
              <a:srgbClr val="00a2ff">
                <a:lumOff val="16847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6000" spc="-1" strike="noStrike">
              <a:solidFill>
                <a:srgbClr val="000000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73" name="APP"/>
          <p:cNvSpPr/>
          <p:nvPr/>
        </p:nvSpPr>
        <p:spPr>
          <a:xfrm>
            <a:off x="243000" y="5535000"/>
            <a:ext cx="4118760" cy="3312360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APP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ChatOpenAI"/>
          <p:cNvSpPr/>
          <p:nvPr/>
        </p:nvSpPr>
        <p:spPr>
          <a:xfrm>
            <a:off x="6052320" y="4794840"/>
            <a:ext cx="47401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ChatOpenAI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ChatOllama"/>
          <p:cNvSpPr/>
          <p:nvPr/>
        </p:nvSpPr>
        <p:spPr>
          <a:xfrm>
            <a:off x="6113160" y="6350040"/>
            <a:ext cx="461844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ChatOllama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ChatGoogle…"/>
          <p:cNvSpPr/>
          <p:nvPr/>
        </p:nvSpPr>
        <p:spPr>
          <a:xfrm>
            <a:off x="5865840" y="7918200"/>
            <a:ext cx="5113440" cy="192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ChatGoogle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GenerativeAI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Line"/>
          <p:cNvSpPr/>
          <p:nvPr/>
        </p:nvSpPr>
        <p:spPr>
          <a:xfrm>
            <a:off x="11477520" y="6815160"/>
            <a:ext cx="473652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78" name="Line"/>
          <p:cNvSpPr/>
          <p:nvPr/>
        </p:nvSpPr>
        <p:spPr>
          <a:xfrm flipH="1">
            <a:off x="11289960" y="8067600"/>
            <a:ext cx="473652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79" name="API"/>
          <p:cNvSpPr/>
          <p:nvPr/>
        </p:nvSpPr>
        <p:spPr>
          <a:xfrm>
            <a:off x="13050360" y="6909120"/>
            <a:ext cx="14011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API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9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9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9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9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Large      Language…"/>
          <p:cNvSpPr/>
          <p:nvPr/>
        </p:nvSpPr>
        <p:spPr>
          <a:xfrm>
            <a:off x="18915840" y="7616160"/>
            <a:ext cx="4118760" cy="3674880"/>
          </a:xfrm>
          <a:prstGeom prst="roundRect">
            <a:avLst>
              <a:gd name="adj" fmla="val 16813"/>
            </a:avLst>
          </a:prstGeom>
          <a:solidFill>
            <a:schemeClr val="accent5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Large      Language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Model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Line"/>
          <p:cNvSpPr/>
          <p:nvPr/>
        </p:nvSpPr>
        <p:spPr>
          <a:xfrm>
            <a:off x="10691280" y="5970600"/>
            <a:ext cx="0" cy="186012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82" name="Server"/>
          <p:cNvSpPr/>
          <p:nvPr/>
        </p:nvSpPr>
        <p:spPr>
          <a:xfrm>
            <a:off x="8683920" y="2641320"/>
            <a:ext cx="5001840" cy="3366720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Server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Line"/>
          <p:cNvSpPr/>
          <p:nvPr/>
        </p:nvSpPr>
        <p:spPr>
          <a:xfrm flipV="1">
            <a:off x="11678760" y="5884920"/>
            <a:ext cx="0" cy="186012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84" name="Langchain"/>
          <p:cNvSpPr/>
          <p:nvPr/>
        </p:nvSpPr>
        <p:spPr>
          <a:xfrm>
            <a:off x="8623080" y="7797240"/>
            <a:ext cx="5123880" cy="331236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Langchain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DB"/>
          <p:cNvSpPr/>
          <p:nvPr/>
        </p:nvSpPr>
        <p:spPr>
          <a:xfrm>
            <a:off x="19154520" y="2424600"/>
            <a:ext cx="2878560" cy="3800520"/>
          </a:xfrm>
          <a:custGeom>
            <a:avLst/>
            <a:gdLst>
              <a:gd name="textAreaLeft" fmla="*/ 0 w 2878560"/>
              <a:gd name="textAreaRight" fmla="*/ 2878920 w 2878560"/>
              <a:gd name="textAreaTop" fmla="*/ 0 h 3800520"/>
              <a:gd name="textAreaBottom" fmla="*/ 3800880 h 3800520"/>
            </a:gdLst>
            <a:ahLst/>
            <a:rect l="textAreaLeft" t="textAreaTop" r="textAreaRight" b="textAreaBottom"/>
            <a:pathLst>
              <a:path w="19679" h="2160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50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DB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Line"/>
          <p:cNvSpPr/>
          <p:nvPr/>
        </p:nvSpPr>
        <p:spPr>
          <a:xfrm flipH="1">
            <a:off x="13835880" y="10160640"/>
            <a:ext cx="473652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87" name="Line"/>
          <p:cNvSpPr/>
          <p:nvPr/>
        </p:nvSpPr>
        <p:spPr>
          <a:xfrm>
            <a:off x="14042520" y="8746560"/>
            <a:ext cx="473652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88" name="Computer"/>
          <p:cNvSpPr/>
          <p:nvPr/>
        </p:nvSpPr>
        <p:spPr>
          <a:xfrm>
            <a:off x="495360" y="3041640"/>
            <a:ext cx="3179880" cy="2566080"/>
          </a:xfrm>
          <a:custGeom>
            <a:avLst/>
            <a:gdLst>
              <a:gd name="textAreaLeft" fmla="*/ 0 w 3179880"/>
              <a:gd name="textAreaRight" fmla="*/ 3180240 w 3179880"/>
              <a:gd name="textAreaTop" fmla="*/ 0 h 2566080"/>
              <a:gd name="textAreaBottom" fmla="*/ 2566440 h 2566080"/>
            </a:gdLst>
            <a:ahLst/>
            <a:rect l="textAreaLeft" t="textAreaTop" r="textAreaRight" b="textAreaBottom"/>
            <a:pathLst>
              <a:path w="21595" h="2160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89" name="Line"/>
          <p:cNvSpPr/>
          <p:nvPr/>
        </p:nvSpPr>
        <p:spPr>
          <a:xfrm flipH="1">
            <a:off x="14066280" y="5263920"/>
            <a:ext cx="473652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90" name="Line"/>
          <p:cNvSpPr/>
          <p:nvPr/>
        </p:nvSpPr>
        <p:spPr>
          <a:xfrm>
            <a:off x="14178960" y="3949560"/>
            <a:ext cx="473652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91" name="Line"/>
          <p:cNvSpPr/>
          <p:nvPr/>
        </p:nvSpPr>
        <p:spPr>
          <a:xfrm flipH="1">
            <a:off x="3708720" y="5119560"/>
            <a:ext cx="473652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92" name="Line"/>
          <p:cNvSpPr/>
          <p:nvPr/>
        </p:nvSpPr>
        <p:spPr>
          <a:xfrm>
            <a:off x="3939120" y="3841200"/>
            <a:ext cx="473652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93" name="Web APP"/>
          <p:cNvSpPr/>
          <p:nvPr/>
        </p:nvSpPr>
        <p:spPr>
          <a:xfrm>
            <a:off x="10793880" y="918360"/>
            <a:ext cx="3179880" cy="256608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Web APP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API"/>
          <p:cNvSpPr/>
          <p:nvPr/>
        </p:nvSpPr>
        <p:spPr>
          <a:xfrm>
            <a:off x="15734160" y="8946000"/>
            <a:ext cx="14011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API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8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LLM"/>
          <p:cNvSpPr/>
          <p:nvPr/>
        </p:nvSpPr>
        <p:spPr>
          <a:xfrm>
            <a:off x="640800" y="596520"/>
            <a:ext cx="273312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LLM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"/>
          <p:cNvSpPr/>
          <p:nvPr/>
        </p:nvSpPr>
        <p:spPr>
          <a:xfrm>
            <a:off x="16226280" y="3454560"/>
            <a:ext cx="7256880" cy="732384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97" name="Line"/>
          <p:cNvSpPr/>
          <p:nvPr/>
        </p:nvSpPr>
        <p:spPr>
          <a:xfrm>
            <a:off x="9057240" y="7116480"/>
            <a:ext cx="707976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98" name="Large…"/>
          <p:cNvSpPr/>
          <p:nvPr/>
        </p:nvSpPr>
        <p:spPr>
          <a:xfrm>
            <a:off x="17295480" y="5237640"/>
            <a:ext cx="5118120" cy="3757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Large 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Language 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Model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Data 2.png" descr="Data 2.png"/>
          <p:cNvPicPr/>
          <p:nvPr/>
        </p:nvPicPr>
        <p:blipFill>
          <a:blip r:embed="rId1"/>
          <a:stretch/>
        </p:blipFill>
        <p:spPr>
          <a:xfrm>
            <a:off x="533520" y="3060360"/>
            <a:ext cx="8434440" cy="8434440"/>
          </a:xfrm>
          <a:prstGeom prst="rect">
            <a:avLst/>
          </a:prstGeom>
          <a:ln w="127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1" dur="indefinite" restart="never" nodeType="tmRoot">
          <p:childTnLst>
            <p:seq>
              <p:cTn id="142" dur="indefinite" nodeType="mainSeq">
                <p:childTnLst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4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8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9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2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rompt"/>
          <p:cNvSpPr/>
          <p:nvPr/>
        </p:nvSpPr>
        <p:spPr>
          <a:xfrm>
            <a:off x="1233000" y="2607480"/>
            <a:ext cx="456192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Large      Language…"/>
          <p:cNvSpPr/>
          <p:nvPr/>
        </p:nvSpPr>
        <p:spPr>
          <a:xfrm>
            <a:off x="14157360" y="2954520"/>
            <a:ext cx="4408200" cy="45396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Large      Language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Model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What is Machine Learning"/>
          <p:cNvSpPr/>
          <p:nvPr/>
        </p:nvSpPr>
        <p:spPr>
          <a:xfrm>
            <a:off x="1503720" y="4284360"/>
            <a:ext cx="6208920" cy="188064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What is Machine Learning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Line"/>
          <p:cNvSpPr/>
          <p:nvPr/>
        </p:nvSpPr>
        <p:spPr>
          <a:xfrm flipH="1">
            <a:off x="8566560" y="5786640"/>
            <a:ext cx="473652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104" name="Input"/>
          <p:cNvSpPr/>
          <p:nvPr/>
        </p:nvSpPr>
        <p:spPr>
          <a:xfrm>
            <a:off x="9874080" y="2700360"/>
            <a:ext cx="333828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Input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Questions"/>
          <p:cNvSpPr/>
          <p:nvPr/>
        </p:nvSpPr>
        <p:spPr>
          <a:xfrm>
            <a:off x="1648800" y="6641640"/>
            <a:ext cx="37299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Questions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Line"/>
          <p:cNvSpPr/>
          <p:nvPr/>
        </p:nvSpPr>
        <p:spPr>
          <a:xfrm>
            <a:off x="8802360" y="4791960"/>
            <a:ext cx="4736520" cy="0"/>
          </a:xfrm>
          <a:prstGeom prst="line">
            <a:avLst/>
          </a:prstGeom>
          <a:ln w="1270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107" name="Output"/>
          <p:cNvSpPr/>
          <p:nvPr/>
        </p:nvSpPr>
        <p:spPr>
          <a:xfrm>
            <a:off x="9101880" y="5952960"/>
            <a:ext cx="435780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Output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Marketing Campaigns"/>
          <p:cNvSpPr/>
          <p:nvPr/>
        </p:nvSpPr>
        <p:spPr>
          <a:xfrm>
            <a:off x="1633680" y="7787520"/>
            <a:ext cx="79984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Marketing Campaigns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ummarising Text"/>
          <p:cNvSpPr/>
          <p:nvPr/>
        </p:nvSpPr>
        <p:spPr>
          <a:xfrm>
            <a:off x="1700640" y="8933760"/>
            <a:ext cx="651564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Summarising Text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EMINI"/>
          <p:cNvSpPr/>
          <p:nvPr/>
        </p:nvSpPr>
        <p:spPr>
          <a:xfrm>
            <a:off x="19915920" y="3904200"/>
            <a:ext cx="286560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GEMINI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PT"/>
          <p:cNvSpPr/>
          <p:nvPr/>
        </p:nvSpPr>
        <p:spPr>
          <a:xfrm>
            <a:off x="20036880" y="2781720"/>
            <a:ext cx="15411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GPT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Assistance"/>
          <p:cNvSpPr/>
          <p:nvPr/>
        </p:nvSpPr>
        <p:spPr>
          <a:xfrm>
            <a:off x="1845360" y="10079640"/>
            <a:ext cx="38487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Assistance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LLAMA"/>
          <p:cNvSpPr/>
          <p:nvPr/>
        </p:nvSpPr>
        <p:spPr>
          <a:xfrm>
            <a:off x="19776960" y="5936760"/>
            <a:ext cx="25653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LLAMA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MISTRAL"/>
          <p:cNvSpPr/>
          <p:nvPr/>
        </p:nvSpPr>
        <p:spPr>
          <a:xfrm>
            <a:off x="19720800" y="6915240"/>
            <a:ext cx="325440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MISTRAL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Multi Modal"/>
          <p:cNvSpPr/>
          <p:nvPr/>
        </p:nvSpPr>
        <p:spPr>
          <a:xfrm>
            <a:off x="18213840" y="9392400"/>
            <a:ext cx="43743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Multi Modal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Images"/>
          <p:cNvSpPr/>
          <p:nvPr/>
        </p:nvSpPr>
        <p:spPr>
          <a:xfrm>
            <a:off x="11511720" y="9392400"/>
            <a:ext cx="27619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Images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Videos"/>
          <p:cNvSpPr/>
          <p:nvPr/>
        </p:nvSpPr>
        <p:spPr>
          <a:xfrm>
            <a:off x="14826600" y="9392400"/>
            <a:ext cx="247860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Videos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4" dur="indefinite" restart="never" nodeType="tmRoot">
          <p:childTnLst>
            <p:seq>
              <p:cTn id="165" dur="indefinite" nodeType="mainSeq">
                <p:childTnLst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9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3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7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1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5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9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3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7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5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9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3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7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1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5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9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3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7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treamlit"/>
          <p:cNvSpPr/>
          <p:nvPr/>
        </p:nvSpPr>
        <p:spPr>
          <a:xfrm>
            <a:off x="6755760" y="5283360"/>
            <a:ext cx="10872720" cy="3148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Streamlit</a:t>
            </a:r>
            <a:endParaRPr b="0" lang="en-US" sz="20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8" dur="indefinite" restart="never" nodeType="tmRoot">
          <p:childTnLst>
            <p:seq>
              <p:cTn id="239" dur="indefinite" nodeType="mainSeq">
                <p:childTnLst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3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romptTemplate"/>
          <p:cNvSpPr/>
          <p:nvPr/>
        </p:nvSpPr>
        <p:spPr>
          <a:xfrm>
            <a:off x="2160000" y="5283360"/>
            <a:ext cx="20063880" cy="3148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PromptTemplate</a:t>
            </a:r>
            <a:endParaRPr b="0" lang="en-US" sz="20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4" dur="indefinite" restart="never" nodeType="tmRoot">
          <p:childTnLst>
            <p:seq>
              <p:cTn id="245" dur="indefinite" nodeType="mainSeq">
                <p:childTnLst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9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hains"/>
          <p:cNvSpPr/>
          <p:nvPr/>
        </p:nvSpPr>
        <p:spPr>
          <a:xfrm>
            <a:off x="7307640" y="2565720"/>
            <a:ext cx="8143200" cy="3148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Chains</a:t>
            </a:r>
            <a:endParaRPr b="0" lang="en-US" sz="2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rompt"/>
          <p:cNvSpPr/>
          <p:nvPr/>
        </p:nvSpPr>
        <p:spPr>
          <a:xfrm>
            <a:off x="7597080" y="6805080"/>
            <a:ext cx="368244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LLM"/>
          <p:cNvSpPr/>
          <p:nvPr/>
        </p:nvSpPr>
        <p:spPr>
          <a:xfrm>
            <a:off x="12279960" y="6805080"/>
            <a:ext cx="208836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8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LLM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|"/>
          <p:cNvSpPr/>
          <p:nvPr/>
        </p:nvSpPr>
        <p:spPr>
          <a:xfrm>
            <a:off x="11370960" y="5588640"/>
            <a:ext cx="660600" cy="2538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br>
              <a:rPr sz="8000"/>
            </a:br>
            <a:r>
              <a:rPr b="0" lang="en-US" sz="8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|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0" dur="indefinite" restart="never" nodeType="tmRoot">
          <p:childTnLst>
            <p:seq>
              <p:cTn id="251" dur="indefinite" nodeType="mainSeq">
                <p:childTnLst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5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9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3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7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imple Sequential Chain"/>
          <p:cNvSpPr/>
          <p:nvPr/>
        </p:nvSpPr>
        <p:spPr>
          <a:xfrm>
            <a:off x="442800" y="757080"/>
            <a:ext cx="1451196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Simple Sequential Chain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"/>
          <p:cNvSpPr/>
          <p:nvPr/>
        </p:nvSpPr>
        <p:spPr>
          <a:xfrm>
            <a:off x="13713840" y="4476600"/>
            <a:ext cx="8480160" cy="6407640"/>
          </a:xfrm>
          <a:prstGeom prst="rect">
            <a:avLst/>
          </a:prstGeom>
          <a:noFill/>
          <a:ln w="63500">
            <a:solidFill>
              <a:srgbClr val="fae232">
                <a:hueOff val="-1081314"/>
                <a:satOff val="4338"/>
                <a:lumOff val="-8931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126" name="Rectangle"/>
          <p:cNvSpPr/>
          <p:nvPr/>
        </p:nvSpPr>
        <p:spPr>
          <a:xfrm>
            <a:off x="2988000" y="4476600"/>
            <a:ext cx="8480160" cy="6407640"/>
          </a:xfrm>
          <a:prstGeom prst="rect">
            <a:avLst/>
          </a:prstGeom>
          <a:noFill/>
          <a:ln w="63500">
            <a:solidFill>
              <a:srgbClr val="00a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127" name="INPUT"/>
          <p:cNvSpPr/>
          <p:nvPr/>
        </p:nvSpPr>
        <p:spPr>
          <a:xfrm>
            <a:off x="2002320" y="7238880"/>
            <a:ext cx="2079360" cy="1177920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INPUT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OUTPUT"/>
          <p:cNvSpPr/>
          <p:nvPr/>
        </p:nvSpPr>
        <p:spPr>
          <a:xfrm>
            <a:off x="10872720" y="7238880"/>
            <a:ext cx="3360600" cy="117792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OUTPUT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OUTPUT"/>
          <p:cNvSpPr/>
          <p:nvPr/>
        </p:nvSpPr>
        <p:spPr>
          <a:xfrm>
            <a:off x="20736000" y="7091640"/>
            <a:ext cx="3360600" cy="1177920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OUTPUT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prompt"/>
          <p:cNvSpPr/>
          <p:nvPr/>
        </p:nvSpPr>
        <p:spPr>
          <a:xfrm>
            <a:off x="4430160" y="7472880"/>
            <a:ext cx="18889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LLM"/>
          <p:cNvSpPr/>
          <p:nvPr/>
        </p:nvSpPr>
        <p:spPr>
          <a:xfrm>
            <a:off x="6680520" y="7472880"/>
            <a:ext cx="109476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LLM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arser"/>
          <p:cNvSpPr/>
          <p:nvPr/>
        </p:nvSpPr>
        <p:spPr>
          <a:xfrm>
            <a:off x="8061840" y="7518600"/>
            <a:ext cx="16405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Parser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|"/>
          <p:cNvSpPr/>
          <p:nvPr/>
        </p:nvSpPr>
        <p:spPr>
          <a:xfrm>
            <a:off x="6271200" y="6810840"/>
            <a:ext cx="38016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|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|"/>
          <p:cNvSpPr/>
          <p:nvPr/>
        </p:nvSpPr>
        <p:spPr>
          <a:xfrm>
            <a:off x="7749720" y="6810840"/>
            <a:ext cx="38016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|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rompt"/>
          <p:cNvSpPr/>
          <p:nvPr/>
        </p:nvSpPr>
        <p:spPr>
          <a:xfrm>
            <a:off x="14976000" y="7423560"/>
            <a:ext cx="18889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LLM"/>
          <p:cNvSpPr/>
          <p:nvPr/>
        </p:nvSpPr>
        <p:spPr>
          <a:xfrm>
            <a:off x="17226720" y="7423560"/>
            <a:ext cx="109476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LLM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arser"/>
          <p:cNvSpPr/>
          <p:nvPr/>
        </p:nvSpPr>
        <p:spPr>
          <a:xfrm>
            <a:off x="18607680" y="7469640"/>
            <a:ext cx="16405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Parser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|"/>
          <p:cNvSpPr/>
          <p:nvPr/>
        </p:nvSpPr>
        <p:spPr>
          <a:xfrm>
            <a:off x="16817040" y="6761520"/>
            <a:ext cx="38016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|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|"/>
          <p:cNvSpPr/>
          <p:nvPr/>
        </p:nvSpPr>
        <p:spPr>
          <a:xfrm>
            <a:off x="18295920" y="6761520"/>
            <a:ext cx="38016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|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Chain 1"/>
          <p:cNvSpPr/>
          <p:nvPr/>
        </p:nvSpPr>
        <p:spPr>
          <a:xfrm>
            <a:off x="6285240" y="5302080"/>
            <a:ext cx="188568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Chain 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Chain 2"/>
          <p:cNvSpPr/>
          <p:nvPr/>
        </p:nvSpPr>
        <p:spPr>
          <a:xfrm>
            <a:off x="16831080" y="5302080"/>
            <a:ext cx="188568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Chain 2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8" dur="indefinite" restart="never" nodeType="tmRoot">
          <p:childTnLst>
            <p:seq>
              <p:cTn id="269" dur="indefinite" nodeType="mainSeq">
                <p:childTnLst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3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7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1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5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9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3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7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1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5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9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3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7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1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5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9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3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7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1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equential Chain"/>
          <p:cNvSpPr/>
          <p:nvPr/>
        </p:nvSpPr>
        <p:spPr>
          <a:xfrm>
            <a:off x="462600" y="757080"/>
            <a:ext cx="1014588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Sequential Chain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"/>
          <p:cNvSpPr/>
          <p:nvPr/>
        </p:nvSpPr>
        <p:spPr>
          <a:xfrm>
            <a:off x="13713840" y="4476600"/>
            <a:ext cx="8480160" cy="6407640"/>
          </a:xfrm>
          <a:prstGeom prst="rect">
            <a:avLst/>
          </a:prstGeom>
          <a:noFill/>
          <a:ln w="63500">
            <a:solidFill>
              <a:srgbClr val="fae232">
                <a:hueOff val="-1081314"/>
                <a:satOff val="4338"/>
                <a:lumOff val="-8931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144" name="Rectangle"/>
          <p:cNvSpPr/>
          <p:nvPr/>
        </p:nvSpPr>
        <p:spPr>
          <a:xfrm>
            <a:off x="2988000" y="4476600"/>
            <a:ext cx="8480160" cy="6407640"/>
          </a:xfrm>
          <a:prstGeom prst="rect">
            <a:avLst/>
          </a:prstGeom>
          <a:noFill/>
          <a:ln w="63500">
            <a:solidFill>
              <a:srgbClr val="00a2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145" name="INPUT"/>
          <p:cNvSpPr/>
          <p:nvPr/>
        </p:nvSpPr>
        <p:spPr>
          <a:xfrm>
            <a:off x="2002320" y="7238880"/>
            <a:ext cx="2079360" cy="1177920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INPUT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OUTPUT"/>
          <p:cNvSpPr/>
          <p:nvPr/>
        </p:nvSpPr>
        <p:spPr>
          <a:xfrm>
            <a:off x="10872720" y="7238880"/>
            <a:ext cx="3360600" cy="117792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OUTPUT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OUTPUT 1"/>
          <p:cNvSpPr/>
          <p:nvPr/>
        </p:nvSpPr>
        <p:spPr>
          <a:xfrm>
            <a:off x="20772000" y="7091640"/>
            <a:ext cx="3360600" cy="1177920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OUTPUT 1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prompt"/>
          <p:cNvSpPr/>
          <p:nvPr/>
        </p:nvSpPr>
        <p:spPr>
          <a:xfrm>
            <a:off x="4430160" y="7472880"/>
            <a:ext cx="18889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LLM"/>
          <p:cNvSpPr/>
          <p:nvPr/>
        </p:nvSpPr>
        <p:spPr>
          <a:xfrm>
            <a:off x="6680520" y="7472880"/>
            <a:ext cx="109476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LLM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arser"/>
          <p:cNvSpPr/>
          <p:nvPr/>
        </p:nvSpPr>
        <p:spPr>
          <a:xfrm>
            <a:off x="8061840" y="7518600"/>
            <a:ext cx="16405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Parser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|"/>
          <p:cNvSpPr/>
          <p:nvPr/>
        </p:nvSpPr>
        <p:spPr>
          <a:xfrm>
            <a:off x="6271200" y="6810840"/>
            <a:ext cx="38016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|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|"/>
          <p:cNvSpPr/>
          <p:nvPr/>
        </p:nvSpPr>
        <p:spPr>
          <a:xfrm>
            <a:off x="7749720" y="6810840"/>
            <a:ext cx="38016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|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rompt"/>
          <p:cNvSpPr/>
          <p:nvPr/>
        </p:nvSpPr>
        <p:spPr>
          <a:xfrm>
            <a:off x="14976000" y="7423560"/>
            <a:ext cx="18889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LLM"/>
          <p:cNvSpPr/>
          <p:nvPr/>
        </p:nvSpPr>
        <p:spPr>
          <a:xfrm>
            <a:off x="17226720" y="7423560"/>
            <a:ext cx="109476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LLM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arser"/>
          <p:cNvSpPr/>
          <p:nvPr/>
        </p:nvSpPr>
        <p:spPr>
          <a:xfrm>
            <a:off x="18607680" y="7469640"/>
            <a:ext cx="16405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Parser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|"/>
          <p:cNvSpPr/>
          <p:nvPr/>
        </p:nvSpPr>
        <p:spPr>
          <a:xfrm>
            <a:off x="16817040" y="6761520"/>
            <a:ext cx="38016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|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|"/>
          <p:cNvSpPr/>
          <p:nvPr/>
        </p:nvSpPr>
        <p:spPr>
          <a:xfrm>
            <a:off x="18295920" y="6761520"/>
            <a:ext cx="38016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br>
              <a:rPr sz="4000"/>
            </a:b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|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Chain 1"/>
          <p:cNvSpPr/>
          <p:nvPr/>
        </p:nvSpPr>
        <p:spPr>
          <a:xfrm>
            <a:off x="6285240" y="5302080"/>
            <a:ext cx="188568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Chain 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Chain 2"/>
          <p:cNvSpPr/>
          <p:nvPr/>
        </p:nvSpPr>
        <p:spPr>
          <a:xfrm>
            <a:off x="16831080" y="5302080"/>
            <a:ext cx="188568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Chain 2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INPUT 2"/>
          <p:cNvSpPr/>
          <p:nvPr/>
        </p:nvSpPr>
        <p:spPr>
          <a:xfrm>
            <a:off x="12657600" y="8808120"/>
            <a:ext cx="2079360" cy="1177920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INPUT 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OUTPUT 2"/>
          <p:cNvSpPr/>
          <p:nvPr/>
        </p:nvSpPr>
        <p:spPr>
          <a:xfrm>
            <a:off x="20772000" y="8808120"/>
            <a:ext cx="3360600" cy="1177920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OUTPUT 2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2" dur="indefinite" restart="never" nodeType="tmRoot">
          <p:childTnLst>
            <p:seq>
              <p:cTn id="343" dur="indefinite" nodeType="mainSeq">
                <p:childTnLst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1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5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9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3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7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1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5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9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3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7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1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5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9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3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7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1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5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9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3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1778040" y="2298600"/>
            <a:ext cx="20827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1778040" y="7074000"/>
            <a:ext cx="20827800" cy="158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1"/>
          <a:stretch/>
        </p:blipFill>
        <p:spPr>
          <a:xfrm>
            <a:off x="457200" y="343080"/>
            <a:ext cx="23121720" cy="1245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hat History"/>
          <p:cNvSpPr/>
          <p:nvPr/>
        </p:nvSpPr>
        <p:spPr>
          <a:xfrm>
            <a:off x="4775760" y="5283360"/>
            <a:ext cx="14832000" cy="3148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Chat History</a:t>
            </a:r>
            <a:endParaRPr b="0" lang="en-US" sz="20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4" dur="indefinite" restart="never" nodeType="tmRoot">
          <p:childTnLst>
            <p:seq>
              <p:cTn id="425" dur="indefinite" nodeType="mainSeq">
                <p:childTnLst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9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Query"/>
          <p:cNvSpPr/>
          <p:nvPr/>
        </p:nvSpPr>
        <p:spPr>
          <a:xfrm>
            <a:off x="2987640" y="4977360"/>
            <a:ext cx="24375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Query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Document"/>
          <p:cNvSpPr/>
          <p:nvPr/>
        </p:nvSpPr>
        <p:spPr>
          <a:xfrm>
            <a:off x="21229560" y="10075320"/>
            <a:ext cx="273600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Document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Line"/>
          <p:cNvSpPr/>
          <p:nvPr/>
        </p:nvSpPr>
        <p:spPr>
          <a:xfrm flipH="1">
            <a:off x="19344600" y="9034920"/>
            <a:ext cx="1879920" cy="149544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169" name="Text Document"/>
          <p:cNvSpPr/>
          <p:nvPr/>
        </p:nvSpPr>
        <p:spPr>
          <a:xfrm>
            <a:off x="16859880" y="10643760"/>
            <a:ext cx="1603800" cy="2076840"/>
          </a:xfrm>
          <a:custGeom>
            <a:avLst/>
            <a:gdLst>
              <a:gd name="textAreaLeft" fmla="*/ 0 w 1603800"/>
              <a:gd name="textAreaRight" fmla="*/ 1604160 w 1603800"/>
              <a:gd name="textAreaTop" fmla="*/ 0 h 2076840"/>
              <a:gd name="textAreaBottom" fmla="*/ 2077200 h 2076840"/>
            </a:gdLst>
            <a:ahLst/>
            <a:rect l="textAreaLeft" t="textAreaTop" r="textAreaRight" b="textAreaBottom"/>
            <a:pathLst>
              <a:path w="21600" h="2160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170" name="Text Document"/>
          <p:cNvSpPr/>
          <p:nvPr/>
        </p:nvSpPr>
        <p:spPr>
          <a:xfrm>
            <a:off x="21550320" y="7361640"/>
            <a:ext cx="2093760" cy="2711520"/>
          </a:xfrm>
          <a:custGeom>
            <a:avLst/>
            <a:gdLst>
              <a:gd name="textAreaLeft" fmla="*/ 0 w 2093760"/>
              <a:gd name="textAreaRight" fmla="*/ 2094120 w 2093760"/>
              <a:gd name="textAreaTop" fmla="*/ 0 h 2711520"/>
              <a:gd name="textAreaBottom" fmla="*/ 2711880 h 2711520"/>
            </a:gdLst>
            <a:ahLst/>
            <a:rect l="textAreaLeft" t="textAreaTop" r="textAreaRight" b="textAreaBottom"/>
            <a:pathLst>
              <a:path w="21600" h="2160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7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171" name="Text Document"/>
          <p:cNvSpPr/>
          <p:nvPr/>
        </p:nvSpPr>
        <p:spPr>
          <a:xfrm>
            <a:off x="18655200" y="10742040"/>
            <a:ext cx="1531080" cy="1982520"/>
          </a:xfrm>
          <a:custGeom>
            <a:avLst/>
            <a:gdLst>
              <a:gd name="textAreaLeft" fmla="*/ 0 w 1531080"/>
              <a:gd name="textAreaRight" fmla="*/ 1531440 w 1531080"/>
              <a:gd name="textAreaTop" fmla="*/ 0 h 1982520"/>
              <a:gd name="textAreaBottom" fmla="*/ 1982880 h 1982520"/>
            </a:gdLst>
            <a:ahLst/>
            <a:rect l="textAreaLeft" t="textAreaTop" r="textAreaRight" b="textAreaBottom"/>
            <a:pathLst>
              <a:path w="21600" h="2160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172" name="Text Document"/>
          <p:cNvSpPr/>
          <p:nvPr/>
        </p:nvSpPr>
        <p:spPr>
          <a:xfrm>
            <a:off x="15064920" y="10643760"/>
            <a:ext cx="1603800" cy="2076840"/>
          </a:xfrm>
          <a:custGeom>
            <a:avLst/>
            <a:gdLst>
              <a:gd name="textAreaLeft" fmla="*/ 0 w 1603800"/>
              <a:gd name="textAreaRight" fmla="*/ 1604160 w 1603800"/>
              <a:gd name="textAreaTop" fmla="*/ 0 h 2076840"/>
              <a:gd name="textAreaBottom" fmla="*/ 2077200 h 2076840"/>
            </a:gdLst>
            <a:ahLst/>
            <a:rect l="textAreaLeft" t="textAreaTop" r="textAreaRight" b="textAreaBottom"/>
            <a:pathLst>
              <a:path w="21600" h="2160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173" name="Line"/>
          <p:cNvSpPr/>
          <p:nvPr/>
        </p:nvSpPr>
        <p:spPr>
          <a:xfrm flipH="1">
            <a:off x="5412240" y="6080760"/>
            <a:ext cx="3228480" cy="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174" name="Embedding…"/>
          <p:cNvSpPr/>
          <p:nvPr/>
        </p:nvSpPr>
        <p:spPr>
          <a:xfrm>
            <a:off x="9309240" y="4880880"/>
            <a:ext cx="4208400" cy="192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Embedding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Model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Vector…"/>
          <p:cNvSpPr/>
          <p:nvPr/>
        </p:nvSpPr>
        <p:spPr>
          <a:xfrm>
            <a:off x="19416240" y="3317400"/>
            <a:ext cx="2411640" cy="3183480"/>
          </a:xfrm>
          <a:custGeom>
            <a:avLst/>
            <a:gdLst>
              <a:gd name="textAreaLeft" fmla="*/ 0 w 2411640"/>
              <a:gd name="textAreaRight" fmla="*/ 2412000 w 2411640"/>
              <a:gd name="textAreaTop" fmla="*/ 0 h 3183480"/>
              <a:gd name="textAreaBottom" fmla="*/ 3183840 h 3183480"/>
            </a:gdLst>
            <a:ahLst/>
            <a:rect l="textAreaLeft" t="textAreaTop" r="textAreaRight" b="textAreaBottom"/>
            <a:pathLst>
              <a:path w="19679" h="2160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Vector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Store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Line"/>
          <p:cNvSpPr/>
          <p:nvPr/>
        </p:nvSpPr>
        <p:spPr>
          <a:xfrm flipV="1">
            <a:off x="17422200" y="5990040"/>
            <a:ext cx="1748160" cy="9666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177" name="[-0.1848554  -0.17605719…"/>
          <p:cNvSpPr/>
          <p:nvPr/>
        </p:nvSpPr>
        <p:spPr>
          <a:xfrm>
            <a:off x="12952080" y="1958400"/>
            <a:ext cx="4776840" cy="192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[-0.1848554  -0.17605719 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0.18991971  0.4797751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0.04560479  0.00489019 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0.0982461  -0.07267588]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Line"/>
          <p:cNvSpPr/>
          <p:nvPr/>
        </p:nvSpPr>
        <p:spPr>
          <a:xfrm>
            <a:off x="12290760" y="7053120"/>
            <a:ext cx="3614760" cy="316044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179" name="[-0.1823554  -0.17605234]"/>
          <p:cNvSpPr/>
          <p:nvPr/>
        </p:nvSpPr>
        <p:spPr>
          <a:xfrm>
            <a:off x="12625560" y="6208200"/>
            <a:ext cx="4718880" cy="558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[-0.1823554  -0.17605234]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Line"/>
          <p:cNvSpPr/>
          <p:nvPr/>
        </p:nvSpPr>
        <p:spPr>
          <a:xfrm>
            <a:off x="16781760" y="3205080"/>
            <a:ext cx="2531880" cy="98784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181" name="Computer"/>
          <p:cNvSpPr/>
          <p:nvPr/>
        </p:nvSpPr>
        <p:spPr>
          <a:xfrm>
            <a:off x="831960" y="5134320"/>
            <a:ext cx="1762560" cy="1422360"/>
          </a:xfrm>
          <a:custGeom>
            <a:avLst/>
            <a:gdLst>
              <a:gd name="textAreaLeft" fmla="*/ 0 w 1762560"/>
              <a:gd name="textAreaRight" fmla="*/ 1762920 w 1762560"/>
              <a:gd name="textAreaTop" fmla="*/ 0 h 1422360"/>
              <a:gd name="textAreaBottom" fmla="*/ 1422720 h 1422360"/>
            </a:gdLst>
            <a:ahLst/>
            <a:rect l="textAreaLeft" t="textAreaTop" r="textAreaRight" b="textAreaBottom"/>
            <a:pathLst>
              <a:path w="21595" h="2160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182" name="Using Vector Database"/>
          <p:cNvSpPr/>
          <p:nvPr/>
        </p:nvSpPr>
        <p:spPr>
          <a:xfrm>
            <a:off x="212400" y="107280"/>
            <a:ext cx="1362816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Using Vector Database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Data Chunks"/>
          <p:cNvSpPr/>
          <p:nvPr/>
        </p:nvSpPr>
        <p:spPr>
          <a:xfrm>
            <a:off x="14830200" y="4131000"/>
            <a:ext cx="31309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Data Chunks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Matching Data"/>
          <p:cNvSpPr/>
          <p:nvPr/>
        </p:nvSpPr>
        <p:spPr>
          <a:xfrm>
            <a:off x="16117200" y="6908040"/>
            <a:ext cx="35971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Matching Data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Line"/>
          <p:cNvSpPr/>
          <p:nvPr/>
        </p:nvSpPr>
        <p:spPr>
          <a:xfrm>
            <a:off x="5818680" y="5484960"/>
            <a:ext cx="3011400" cy="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186" name="Matching Data"/>
          <p:cNvSpPr/>
          <p:nvPr/>
        </p:nvSpPr>
        <p:spPr>
          <a:xfrm>
            <a:off x="5779440" y="6502680"/>
            <a:ext cx="35971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Matching Data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Chroma"/>
          <p:cNvSpPr/>
          <p:nvPr/>
        </p:nvSpPr>
        <p:spPr>
          <a:xfrm>
            <a:off x="1078560" y="9650880"/>
            <a:ext cx="29541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Chroma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FAISS"/>
          <p:cNvSpPr/>
          <p:nvPr/>
        </p:nvSpPr>
        <p:spPr>
          <a:xfrm>
            <a:off x="4641480" y="9650880"/>
            <a:ext cx="20638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FAISS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ineCone"/>
          <p:cNvSpPr/>
          <p:nvPr/>
        </p:nvSpPr>
        <p:spPr>
          <a:xfrm>
            <a:off x="7350480" y="9650880"/>
            <a:ext cx="350280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PineCone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Lance"/>
          <p:cNvSpPr/>
          <p:nvPr/>
        </p:nvSpPr>
        <p:spPr>
          <a:xfrm>
            <a:off x="11468520" y="9650880"/>
            <a:ext cx="21934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Lance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0" dur="indefinite" restart="never" nodeType="tmRoot">
          <p:childTnLst>
            <p:seq>
              <p:cTn id="431" dur="indefinite" nodeType="mainSeq">
                <p:childTnLst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5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9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>
                      <p:stCondLst>
                        <p:cond delay="indefinite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3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7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1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5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indefinite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9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>
                      <p:stCondLst>
                        <p:cond delay="indefinite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3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7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1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indefinite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5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9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3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7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1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5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indefinite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9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0" fill="hold">
                      <p:stCondLst>
                        <p:cond delay="indefinite"/>
                      </p:stCondLst>
                      <p:childTnLst>
                        <p:par>
                          <p:cTn id="501" fill="hold">
                            <p:stCondLst>
                              <p:cond delay="0"/>
                            </p:stCondLst>
                            <p:childTnLst>
                              <p:par>
                                <p:cTn id="50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3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7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1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5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9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3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7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indefinite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1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rompt"/>
          <p:cNvSpPr/>
          <p:nvPr/>
        </p:nvSpPr>
        <p:spPr>
          <a:xfrm>
            <a:off x="16401600" y="4255200"/>
            <a:ext cx="277884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+"/>
          <p:cNvSpPr/>
          <p:nvPr/>
        </p:nvSpPr>
        <p:spPr>
          <a:xfrm>
            <a:off x="17348400" y="5284800"/>
            <a:ext cx="5385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+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levant…"/>
          <p:cNvSpPr/>
          <p:nvPr/>
        </p:nvSpPr>
        <p:spPr>
          <a:xfrm>
            <a:off x="16407000" y="6314760"/>
            <a:ext cx="3176640" cy="192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Relevant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Data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Line"/>
          <p:cNvSpPr/>
          <p:nvPr/>
        </p:nvSpPr>
        <p:spPr>
          <a:xfrm>
            <a:off x="17617680" y="8411760"/>
            <a:ext cx="0" cy="7092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195" name="LLM"/>
          <p:cNvSpPr/>
          <p:nvPr/>
        </p:nvSpPr>
        <p:spPr>
          <a:xfrm>
            <a:off x="16285320" y="9298800"/>
            <a:ext cx="3011400" cy="1487520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LLM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Outdated Data"/>
          <p:cNvSpPr/>
          <p:nvPr/>
        </p:nvSpPr>
        <p:spPr>
          <a:xfrm>
            <a:off x="595800" y="5672880"/>
            <a:ext cx="53956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Outdated Data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Our Own Data"/>
          <p:cNvSpPr/>
          <p:nvPr/>
        </p:nvSpPr>
        <p:spPr>
          <a:xfrm>
            <a:off x="3088800" y="7601760"/>
            <a:ext cx="52293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Our Own Data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rompt"/>
          <p:cNvSpPr/>
          <p:nvPr/>
        </p:nvSpPr>
        <p:spPr>
          <a:xfrm>
            <a:off x="10886400" y="4077360"/>
            <a:ext cx="277884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+"/>
          <p:cNvSpPr/>
          <p:nvPr/>
        </p:nvSpPr>
        <p:spPr>
          <a:xfrm>
            <a:off x="11833200" y="5106960"/>
            <a:ext cx="5385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+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Data"/>
          <p:cNvSpPr/>
          <p:nvPr/>
        </p:nvSpPr>
        <p:spPr>
          <a:xfrm>
            <a:off x="11382480" y="6352560"/>
            <a:ext cx="17866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Data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Line"/>
          <p:cNvSpPr/>
          <p:nvPr/>
        </p:nvSpPr>
        <p:spPr>
          <a:xfrm>
            <a:off x="12102480" y="8233560"/>
            <a:ext cx="0" cy="7092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02" name="LLM"/>
          <p:cNvSpPr/>
          <p:nvPr/>
        </p:nvSpPr>
        <p:spPr>
          <a:xfrm>
            <a:off x="10770120" y="9120600"/>
            <a:ext cx="3215160" cy="1626120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LLM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AG"/>
          <p:cNvSpPr/>
          <p:nvPr/>
        </p:nvSpPr>
        <p:spPr>
          <a:xfrm>
            <a:off x="1252800" y="686880"/>
            <a:ext cx="219060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RAG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etrieval Augmented Generation"/>
          <p:cNvSpPr/>
          <p:nvPr/>
        </p:nvSpPr>
        <p:spPr>
          <a:xfrm>
            <a:off x="7278120" y="686880"/>
            <a:ext cx="1686960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Retrieval Augmented Generation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Latest Data"/>
          <p:cNvSpPr/>
          <p:nvPr/>
        </p:nvSpPr>
        <p:spPr>
          <a:xfrm>
            <a:off x="6561000" y="5672880"/>
            <a:ext cx="41565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Latest Data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Line"/>
          <p:cNvSpPr/>
          <p:nvPr/>
        </p:nvSpPr>
        <p:spPr>
          <a:xfrm>
            <a:off x="10704600" y="6503400"/>
            <a:ext cx="676440" cy="3114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07" name="Line"/>
          <p:cNvSpPr/>
          <p:nvPr/>
        </p:nvSpPr>
        <p:spPr>
          <a:xfrm flipV="1">
            <a:off x="8635320" y="7529760"/>
            <a:ext cx="2618640" cy="62568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2" dur="indefinite" restart="never" nodeType="tmRoot">
          <p:childTnLst>
            <p:seq>
              <p:cTn id="533" dur="indefinite" nodeType="mainSeq">
                <p:childTnLst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7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8" fill="hold">
                      <p:stCondLst>
                        <p:cond delay="indefinite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1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5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9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3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4" fill="hold">
                      <p:stCondLst>
                        <p:cond delay="indefinite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7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1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>
                      <p:stCondLst>
                        <p:cond delay="indefinite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5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6" fill="hold">
                      <p:stCondLst>
                        <p:cond delay="indefinite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id="56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9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indefinite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3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7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8" fill="hold">
                      <p:stCondLst>
                        <p:cond delay="indefinite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1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2" fill="hold">
                      <p:stCondLst>
                        <p:cond delay="indefinite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5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indefinite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9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0" fill="hold">
                      <p:stCondLst>
                        <p:cond delay="indefinite"/>
                      </p:stCondLst>
                      <p:childTnLst>
                        <p:par>
                          <p:cTn id="591" fill="hold">
                            <p:stCondLst>
                              <p:cond delay="0"/>
                            </p:stCondLst>
                            <p:childTnLst>
                              <p:par>
                                <p:cTn id="59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3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indefinite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7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indefinite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1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rompt"/>
          <p:cNvSpPr/>
          <p:nvPr/>
        </p:nvSpPr>
        <p:spPr>
          <a:xfrm>
            <a:off x="2912760" y="3529440"/>
            <a:ext cx="29433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Document"/>
          <p:cNvSpPr/>
          <p:nvPr/>
        </p:nvSpPr>
        <p:spPr>
          <a:xfrm>
            <a:off x="21407040" y="8627760"/>
            <a:ext cx="273600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Document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Line"/>
          <p:cNvSpPr/>
          <p:nvPr/>
        </p:nvSpPr>
        <p:spPr>
          <a:xfrm flipH="1">
            <a:off x="19522440" y="7587000"/>
            <a:ext cx="1879920" cy="149544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11" name="Text Document"/>
          <p:cNvSpPr/>
          <p:nvPr/>
        </p:nvSpPr>
        <p:spPr>
          <a:xfrm>
            <a:off x="17291520" y="9967680"/>
            <a:ext cx="1603800" cy="2076840"/>
          </a:xfrm>
          <a:custGeom>
            <a:avLst/>
            <a:gdLst>
              <a:gd name="textAreaLeft" fmla="*/ 0 w 1603800"/>
              <a:gd name="textAreaRight" fmla="*/ 1604160 w 1603800"/>
              <a:gd name="textAreaTop" fmla="*/ 0 h 2076840"/>
              <a:gd name="textAreaBottom" fmla="*/ 2077200 h 2076840"/>
            </a:gdLst>
            <a:ahLst/>
            <a:rect l="textAreaLeft" t="textAreaTop" r="textAreaRight" b="textAreaBottom"/>
            <a:pathLst>
              <a:path w="21600" h="2160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212" name="Text Document"/>
          <p:cNvSpPr/>
          <p:nvPr/>
        </p:nvSpPr>
        <p:spPr>
          <a:xfrm>
            <a:off x="21728160" y="5914080"/>
            <a:ext cx="2093760" cy="2711520"/>
          </a:xfrm>
          <a:custGeom>
            <a:avLst/>
            <a:gdLst>
              <a:gd name="textAreaLeft" fmla="*/ 0 w 2093760"/>
              <a:gd name="textAreaRight" fmla="*/ 2094120 w 2093760"/>
              <a:gd name="textAreaTop" fmla="*/ 0 h 2711520"/>
              <a:gd name="textAreaBottom" fmla="*/ 2711880 h 2711520"/>
            </a:gdLst>
            <a:ahLst/>
            <a:rect l="textAreaLeft" t="textAreaTop" r="textAreaRight" b="textAreaBottom"/>
            <a:pathLst>
              <a:path w="21600" h="2160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7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213" name="Text Document"/>
          <p:cNvSpPr/>
          <p:nvPr/>
        </p:nvSpPr>
        <p:spPr>
          <a:xfrm>
            <a:off x="19086840" y="10065960"/>
            <a:ext cx="1531080" cy="1982520"/>
          </a:xfrm>
          <a:custGeom>
            <a:avLst/>
            <a:gdLst>
              <a:gd name="textAreaLeft" fmla="*/ 0 w 1531080"/>
              <a:gd name="textAreaRight" fmla="*/ 1531440 w 1531080"/>
              <a:gd name="textAreaTop" fmla="*/ 0 h 1982520"/>
              <a:gd name="textAreaBottom" fmla="*/ 1982880 h 1982520"/>
            </a:gdLst>
            <a:ahLst/>
            <a:rect l="textAreaLeft" t="textAreaTop" r="textAreaRight" b="textAreaBottom"/>
            <a:pathLst>
              <a:path w="21600" h="2160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214" name="Text Document"/>
          <p:cNvSpPr/>
          <p:nvPr/>
        </p:nvSpPr>
        <p:spPr>
          <a:xfrm>
            <a:off x="15496560" y="9967680"/>
            <a:ext cx="1603800" cy="2076840"/>
          </a:xfrm>
          <a:custGeom>
            <a:avLst/>
            <a:gdLst>
              <a:gd name="textAreaLeft" fmla="*/ 0 w 1603800"/>
              <a:gd name="textAreaRight" fmla="*/ 1604160 w 1603800"/>
              <a:gd name="textAreaTop" fmla="*/ 0 h 2076840"/>
              <a:gd name="textAreaBottom" fmla="*/ 2077200 h 2076840"/>
            </a:gdLst>
            <a:ahLst/>
            <a:rect l="textAreaLeft" t="textAreaTop" r="textAreaRight" b="textAreaBottom"/>
            <a:pathLst>
              <a:path w="21600" h="2160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215" name="Line"/>
          <p:cNvSpPr/>
          <p:nvPr/>
        </p:nvSpPr>
        <p:spPr>
          <a:xfrm>
            <a:off x="6002640" y="4037040"/>
            <a:ext cx="3011400" cy="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16" name="Embedding…"/>
          <p:cNvSpPr/>
          <p:nvPr/>
        </p:nvSpPr>
        <p:spPr>
          <a:xfrm>
            <a:off x="9487080" y="3432960"/>
            <a:ext cx="4208400" cy="192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Embedding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Model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Vector…"/>
          <p:cNvSpPr/>
          <p:nvPr/>
        </p:nvSpPr>
        <p:spPr>
          <a:xfrm>
            <a:off x="19594080" y="1869480"/>
            <a:ext cx="2411640" cy="3183480"/>
          </a:xfrm>
          <a:custGeom>
            <a:avLst/>
            <a:gdLst>
              <a:gd name="textAreaLeft" fmla="*/ 0 w 2411640"/>
              <a:gd name="textAreaRight" fmla="*/ 2412000 w 2411640"/>
              <a:gd name="textAreaTop" fmla="*/ 0 h 3183480"/>
              <a:gd name="textAreaBottom" fmla="*/ 3183840 h 3183480"/>
            </a:gdLst>
            <a:ahLst/>
            <a:rect l="textAreaLeft" t="textAreaTop" r="textAreaRight" b="textAreaBottom"/>
            <a:pathLst>
              <a:path w="19679" h="2160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Vector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Store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Line"/>
          <p:cNvSpPr/>
          <p:nvPr/>
        </p:nvSpPr>
        <p:spPr>
          <a:xfrm flipV="1">
            <a:off x="17600040" y="4542120"/>
            <a:ext cx="1748160" cy="9666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19" name="[-0.1848554  -0.17605719…"/>
          <p:cNvSpPr/>
          <p:nvPr/>
        </p:nvSpPr>
        <p:spPr>
          <a:xfrm>
            <a:off x="12084480" y="1165320"/>
            <a:ext cx="4776840" cy="192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[-0.1848554  -0.17605719 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0.18991971  0.4797751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0.04560479  0.00489019 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b="0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0.0982461  -0.07267588]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Line"/>
          <p:cNvSpPr/>
          <p:nvPr/>
        </p:nvSpPr>
        <p:spPr>
          <a:xfrm>
            <a:off x="12468600" y="5605560"/>
            <a:ext cx="3614760" cy="316008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21" name="[-0.1823554  -0.17605234]"/>
          <p:cNvSpPr/>
          <p:nvPr/>
        </p:nvSpPr>
        <p:spPr>
          <a:xfrm>
            <a:off x="13159080" y="4803840"/>
            <a:ext cx="4718880" cy="558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[-0.1823554  -0.17605234]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Line"/>
          <p:cNvSpPr/>
          <p:nvPr/>
        </p:nvSpPr>
        <p:spPr>
          <a:xfrm>
            <a:off x="16959600" y="1757160"/>
            <a:ext cx="2531520" cy="9882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23" name="Prompt"/>
          <p:cNvSpPr/>
          <p:nvPr/>
        </p:nvSpPr>
        <p:spPr>
          <a:xfrm>
            <a:off x="8169840" y="6350400"/>
            <a:ext cx="277884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+"/>
          <p:cNvSpPr/>
          <p:nvPr/>
        </p:nvSpPr>
        <p:spPr>
          <a:xfrm>
            <a:off x="9289800" y="7117920"/>
            <a:ext cx="5385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+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elevant…"/>
          <p:cNvSpPr/>
          <p:nvPr/>
        </p:nvSpPr>
        <p:spPr>
          <a:xfrm>
            <a:off x="8233920" y="7964640"/>
            <a:ext cx="3176640" cy="192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Relevant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Data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Line"/>
          <p:cNvSpPr/>
          <p:nvPr/>
        </p:nvSpPr>
        <p:spPr>
          <a:xfrm>
            <a:off x="10047240" y="10070640"/>
            <a:ext cx="0" cy="7092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27" name="LLM"/>
          <p:cNvSpPr/>
          <p:nvPr/>
        </p:nvSpPr>
        <p:spPr>
          <a:xfrm>
            <a:off x="8541360" y="11057400"/>
            <a:ext cx="3011400" cy="1487520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LLM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Line"/>
          <p:cNvSpPr/>
          <p:nvPr/>
        </p:nvSpPr>
        <p:spPr>
          <a:xfrm flipH="1" flipV="1">
            <a:off x="2899440" y="4835520"/>
            <a:ext cx="5350680" cy="695412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29" name="Computer"/>
          <p:cNvSpPr/>
          <p:nvPr/>
        </p:nvSpPr>
        <p:spPr>
          <a:xfrm>
            <a:off x="1009440" y="3326040"/>
            <a:ext cx="1762560" cy="1422360"/>
          </a:xfrm>
          <a:custGeom>
            <a:avLst/>
            <a:gdLst>
              <a:gd name="textAreaLeft" fmla="*/ 0 w 1762560"/>
              <a:gd name="textAreaRight" fmla="*/ 1762920 w 1762560"/>
              <a:gd name="textAreaTop" fmla="*/ 0 h 1422360"/>
              <a:gd name="textAreaBottom" fmla="*/ 1422720 h 1422360"/>
            </a:gdLst>
            <a:ahLst/>
            <a:rect l="textAreaLeft" t="textAreaTop" r="textAreaRight" b="textAreaBottom"/>
            <a:pathLst>
              <a:path w="21595" h="2160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230" name="RAG Process"/>
          <p:cNvSpPr/>
          <p:nvPr/>
        </p:nvSpPr>
        <p:spPr>
          <a:xfrm>
            <a:off x="630360" y="493560"/>
            <a:ext cx="750780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RAG Process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Data"/>
          <p:cNvSpPr/>
          <p:nvPr/>
        </p:nvSpPr>
        <p:spPr>
          <a:xfrm>
            <a:off x="15987240" y="3106080"/>
            <a:ext cx="122292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Data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elevant Data"/>
          <p:cNvSpPr/>
          <p:nvPr/>
        </p:nvSpPr>
        <p:spPr>
          <a:xfrm>
            <a:off x="16391880" y="5460120"/>
            <a:ext cx="340380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Relevant Data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sponse"/>
          <p:cNvSpPr/>
          <p:nvPr/>
        </p:nvSpPr>
        <p:spPr>
          <a:xfrm>
            <a:off x="1833840" y="8421840"/>
            <a:ext cx="35650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Response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02" dur="indefinite" restart="never" nodeType="tmRoot">
          <p:childTnLst>
            <p:seq>
              <p:cTn id="603" dur="indefinite" nodeType="mainSeq">
                <p:childTnLst>
                  <p:par>
                    <p:cTn id="604" fill="hold">
                      <p:stCondLst>
                        <p:cond delay="indefinite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7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>
                      <p:stCondLst>
                        <p:cond delay="indefinite"/>
                      </p:stCondLst>
                      <p:childTnLst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id="61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1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>
                      <p:stCondLst>
                        <p:cond delay="indefinite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5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6" fill="hold">
                      <p:stCondLst>
                        <p:cond delay="indefinite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9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0" fill="hold">
                      <p:stCondLst>
                        <p:cond delay="indefinite"/>
                      </p:stCondLst>
                      <p:childTnLst>
                        <p:par>
                          <p:cTn id="621" fill="hold">
                            <p:stCondLst>
                              <p:cond delay="0"/>
                            </p:stCondLst>
                            <p:childTnLst>
                              <p:par>
                                <p:cTn id="62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3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indefinite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7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>
                      <p:stCondLst>
                        <p:cond delay="indefinite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1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indefinite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id="63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5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6" fill="hold">
                      <p:stCondLst>
                        <p:cond delay="indefinite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9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0" fill="hold">
                      <p:stCondLst>
                        <p:cond delay="indefinite"/>
                      </p:stCondLst>
                      <p:childTnLst>
                        <p:par>
                          <p:cTn id="641" fill="hold">
                            <p:stCondLst>
                              <p:cond delay="0"/>
                            </p:stCondLst>
                            <p:childTnLst>
                              <p:par>
                                <p:cTn id="64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3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4" fill="hold">
                      <p:stCondLst>
                        <p:cond delay="indefinite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7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indefinite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1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fill="hold">
                      <p:stCondLst>
                        <p:cond delay="indefinite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id="65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5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6" fill="hold">
                      <p:stCondLst>
                        <p:cond delay="indefinite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id="65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9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0" fill="hold">
                      <p:stCondLst>
                        <p:cond delay="indefinite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3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4" fill="hold">
                      <p:stCondLst>
                        <p:cond delay="indefinite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par>
                                <p:cTn id="66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7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8" fill="hold">
                      <p:stCondLst>
                        <p:cond delay="indefinite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id="67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1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fill="hold">
                      <p:stCondLst>
                        <p:cond delay="indefinite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5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>
                      <p:stCondLst>
                        <p:cond delay="indefinite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id="67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9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0" fill="hold">
                      <p:stCondLst>
                        <p:cond delay="indefinite"/>
                      </p:stCondLst>
                      <p:childTnLst>
                        <p:par>
                          <p:cTn id="681" fill="hold">
                            <p:stCondLst>
                              <p:cond delay="0"/>
                            </p:stCondLst>
                            <p:childTnLst>
                              <p:par>
                                <p:cTn id="68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3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4" fill="hold">
                      <p:stCondLst>
                        <p:cond delay="indefinite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7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8" fill="hold">
                      <p:stCondLst>
                        <p:cond delay="indefinite"/>
                      </p:stCondLst>
                      <p:childTnLst>
                        <p:par>
                          <p:cTn id="689" fill="hold">
                            <p:stCondLst>
                              <p:cond delay="0"/>
                            </p:stCondLst>
                            <p:childTnLst>
                              <p:par>
                                <p:cTn id="69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1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2" fill="hold">
                      <p:stCondLst>
                        <p:cond delay="indefinite"/>
                      </p:stCondLst>
                      <p:childTnLst>
                        <p:par>
                          <p:cTn id="693" fill="hold">
                            <p:stCondLst>
                              <p:cond delay="0"/>
                            </p:stCondLst>
                            <p:childTnLst>
                              <p:par>
                                <p:cTn id="69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5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6" fill="hold">
                      <p:stCondLst>
                        <p:cond delay="indefinite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9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0" fill="hold">
                      <p:stCondLst>
                        <p:cond delay="indefinite"/>
                      </p:stCondLst>
                      <p:childTnLst>
                        <p:par>
                          <p:cTn id="701" fill="hold">
                            <p:stCondLst>
                              <p:cond delay="0"/>
                            </p:stCondLst>
                            <p:childTnLst>
                              <p:par>
                                <p:cTn id="70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3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4" fill="hold">
                      <p:stCondLst>
                        <p:cond delay="indefinite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id="70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7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Other LLMs"/>
          <p:cNvSpPr/>
          <p:nvPr/>
        </p:nvSpPr>
        <p:spPr>
          <a:xfrm>
            <a:off x="330120" y="744480"/>
            <a:ext cx="10446120" cy="238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5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Other LLMs</a:t>
            </a:r>
            <a:endParaRPr b="0" lang="en-US" sz="1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Gemini"/>
          <p:cNvSpPr/>
          <p:nvPr/>
        </p:nvSpPr>
        <p:spPr>
          <a:xfrm>
            <a:off x="2271960" y="4003920"/>
            <a:ext cx="898164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Google Gemini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Open Source"/>
          <p:cNvSpPr/>
          <p:nvPr/>
        </p:nvSpPr>
        <p:spPr>
          <a:xfrm>
            <a:off x="2386080" y="6601320"/>
            <a:ext cx="777744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Open Source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Mistral"/>
          <p:cNvSpPr/>
          <p:nvPr/>
        </p:nvSpPr>
        <p:spPr>
          <a:xfrm>
            <a:off x="18455040" y="8863920"/>
            <a:ext cx="25516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Mistral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Llama"/>
          <p:cNvSpPr/>
          <p:nvPr/>
        </p:nvSpPr>
        <p:spPr>
          <a:xfrm>
            <a:off x="3099240" y="8863920"/>
            <a:ext cx="22636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Llama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emma"/>
          <p:cNvSpPr/>
          <p:nvPr/>
        </p:nvSpPr>
        <p:spPr>
          <a:xfrm>
            <a:off x="10923480" y="8863920"/>
            <a:ext cx="293724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Gemma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2B"/>
          <p:cNvSpPr/>
          <p:nvPr/>
        </p:nvSpPr>
        <p:spPr>
          <a:xfrm>
            <a:off x="12513240" y="10133640"/>
            <a:ext cx="10339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2B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3.1"/>
          <p:cNvSpPr/>
          <p:nvPr/>
        </p:nvSpPr>
        <p:spPr>
          <a:xfrm>
            <a:off x="4288320" y="10316880"/>
            <a:ext cx="117720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3.1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2"/>
          <p:cNvSpPr/>
          <p:nvPr/>
        </p:nvSpPr>
        <p:spPr>
          <a:xfrm>
            <a:off x="4394520" y="11718360"/>
            <a:ext cx="5374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3B"/>
          <p:cNvSpPr/>
          <p:nvPr/>
        </p:nvSpPr>
        <p:spPr>
          <a:xfrm>
            <a:off x="12513240" y="11718360"/>
            <a:ext cx="10339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3B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7B"/>
          <p:cNvSpPr/>
          <p:nvPr/>
        </p:nvSpPr>
        <p:spPr>
          <a:xfrm>
            <a:off x="19213200" y="10133640"/>
            <a:ext cx="10339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7B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8B"/>
          <p:cNvSpPr/>
          <p:nvPr/>
        </p:nvSpPr>
        <p:spPr>
          <a:xfrm>
            <a:off x="5757480" y="10316880"/>
            <a:ext cx="10339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8B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7B"/>
          <p:cNvSpPr/>
          <p:nvPr/>
        </p:nvSpPr>
        <p:spPr>
          <a:xfrm>
            <a:off x="5757480" y="11718360"/>
            <a:ext cx="10339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7B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8" dur="indefinite" restart="never" nodeType="tmRoot">
          <p:childTnLst>
            <p:seq>
              <p:cTn id="709" dur="indefinite" nodeType="mainSeq">
                <p:childTnLst>
                  <p:par>
                    <p:cTn id="710" fill="hold">
                      <p:stCondLst>
                        <p:cond delay="indefinite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id="71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3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4" fill="hold">
                      <p:stCondLst>
                        <p:cond delay="indefinite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7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8" fill="hold">
                      <p:stCondLst>
                        <p:cond delay="indefinite"/>
                      </p:stCondLst>
                      <p:childTnLst>
                        <p:par>
                          <p:cTn id="719" fill="hold">
                            <p:stCondLst>
                              <p:cond delay="0"/>
                            </p:stCondLst>
                            <p:childTnLst>
                              <p:par>
                                <p:cTn id="72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1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2" fill="hold">
                      <p:stCondLst>
                        <p:cond delay="indefinite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id="72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5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6" fill="hold">
                      <p:stCondLst>
                        <p:cond delay="indefinite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9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0" fill="hold">
                      <p:stCondLst>
                        <p:cond delay="indefinite"/>
                      </p:stCondLst>
                      <p:childTnLst>
                        <p:par>
                          <p:cTn id="731" fill="hold">
                            <p:stCondLst>
                              <p:cond delay="0"/>
                            </p:stCondLst>
                            <p:childTnLst>
                              <p:par>
                                <p:cTn id="73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3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4" fill="hold">
                      <p:stCondLst>
                        <p:cond delay="indefinite"/>
                      </p:stCondLst>
                      <p:childTnLst>
                        <p:par>
                          <p:cTn id="735" fill="hold">
                            <p:stCondLst>
                              <p:cond delay="0"/>
                            </p:stCondLst>
                            <p:childTnLst>
                              <p:par>
                                <p:cTn id="73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7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8" fill="hold">
                      <p:stCondLst>
                        <p:cond delay="indefinite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1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2" fill="hold">
                      <p:stCondLst>
                        <p:cond delay="indefinite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5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6" fill="hold">
                      <p:stCondLst>
                        <p:cond delay="indefinite"/>
                      </p:stCondLst>
                      <p:childTnLst>
                        <p:par>
                          <p:cTn id="747" fill="hold">
                            <p:stCondLst>
                              <p:cond delay="0"/>
                            </p:stCondLst>
                            <p:childTnLst>
                              <p:par>
                                <p:cTn id="74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9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0" fill="hold">
                      <p:stCondLst>
                        <p:cond delay="indefinite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par>
                                <p:cTn id="75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3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4" fill="hold">
                      <p:stCondLst>
                        <p:cond delay="indefinite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7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8" fill="hold">
                      <p:stCondLst>
                        <p:cond delay="indefinite"/>
                      </p:stCondLst>
                      <p:childTnLst>
                        <p:par>
                          <p:cTn id="759" fill="hold">
                            <p:stCondLst>
                              <p:cond delay="0"/>
                            </p:stCondLst>
                            <p:childTnLst>
                              <p:par>
                                <p:cTn id="76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1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8GB"/>
          <p:cNvSpPr/>
          <p:nvPr/>
        </p:nvSpPr>
        <p:spPr>
          <a:xfrm>
            <a:off x="4941720" y="8089200"/>
            <a:ext cx="257760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8GB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7B"/>
          <p:cNvSpPr/>
          <p:nvPr/>
        </p:nvSpPr>
        <p:spPr>
          <a:xfrm>
            <a:off x="5403960" y="4721400"/>
            <a:ext cx="165240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7B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16GB"/>
          <p:cNvSpPr/>
          <p:nvPr/>
        </p:nvSpPr>
        <p:spPr>
          <a:xfrm>
            <a:off x="9464040" y="7888320"/>
            <a:ext cx="330300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16GB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13B"/>
          <p:cNvSpPr/>
          <p:nvPr/>
        </p:nvSpPr>
        <p:spPr>
          <a:xfrm>
            <a:off x="10169640" y="4721400"/>
            <a:ext cx="237960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13B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32GB"/>
          <p:cNvSpPr/>
          <p:nvPr/>
        </p:nvSpPr>
        <p:spPr>
          <a:xfrm>
            <a:off x="16148520" y="7888320"/>
            <a:ext cx="330300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32GB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33B"/>
          <p:cNvSpPr/>
          <p:nvPr/>
        </p:nvSpPr>
        <p:spPr>
          <a:xfrm>
            <a:off x="16610400" y="4721400"/>
            <a:ext cx="237960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33B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62" dur="indefinite" restart="never" nodeType="tmRoot">
          <p:childTnLst>
            <p:seq>
              <p:cTn id="763" dur="indefinite" nodeType="mainSeq">
                <p:childTnLst>
                  <p:par>
                    <p:cTn id="764" fill="hold">
                      <p:stCondLst>
                        <p:cond delay="indefinite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id="76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7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8" fill="hold">
                      <p:stCondLst>
                        <p:cond delay="indefinite"/>
                      </p:stCondLst>
                      <p:childTnLst>
                        <p:par>
                          <p:cTn id="769" fill="hold">
                            <p:stCondLst>
                              <p:cond delay="0"/>
                            </p:stCondLst>
                            <p:childTnLst>
                              <p:par>
                                <p:cTn id="77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1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2" fill="hold">
                      <p:stCondLst>
                        <p:cond delay="indefinite"/>
                      </p:stCondLst>
                      <p:childTnLst>
                        <p:par>
                          <p:cTn id="773" fill="hold">
                            <p:stCondLst>
                              <p:cond delay="0"/>
                            </p:stCondLst>
                            <p:childTnLst>
                              <p:par>
                                <p:cTn id="77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5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6" fill="hold">
                      <p:stCondLst>
                        <p:cond delay="indefinite"/>
                      </p:stCondLst>
                      <p:childTnLst>
                        <p:par>
                          <p:cTn id="777" fill="hold">
                            <p:stCondLst>
                              <p:cond delay="0"/>
                            </p:stCondLst>
                            <p:childTnLst>
                              <p:par>
                                <p:cTn id="77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0" fill="hold">
                      <p:stCondLst>
                        <p:cond delay="indefinite"/>
                      </p:stCondLst>
                      <p:childTnLst>
                        <p:par>
                          <p:cTn id="781" fill="hold">
                            <p:stCondLst>
                              <p:cond delay="0"/>
                            </p:stCondLst>
                            <p:childTnLst>
                              <p:par>
                                <p:cTn id="78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3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4" fill="hold">
                      <p:stCondLst>
                        <p:cond delay="indefinite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id="78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7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Deploy"/>
          <p:cNvSpPr/>
          <p:nvPr/>
        </p:nvSpPr>
        <p:spPr>
          <a:xfrm>
            <a:off x="527040" y="574920"/>
            <a:ext cx="424188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Deploy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Update the code"/>
          <p:cNvSpPr/>
          <p:nvPr/>
        </p:nvSpPr>
        <p:spPr>
          <a:xfrm>
            <a:off x="3098880" y="3038760"/>
            <a:ext cx="996912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Update the code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equirements.txt"/>
          <p:cNvSpPr/>
          <p:nvPr/>
        </p:nvSpPr>
        <p:spPr>
          <a:xfrm>
            <a:off x="3031200" y="5730840"/>
            <a:ext cx="1010484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requirements.txt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ush to github"/>
          <p:cNvSpPr/>
          <p:nvPr/>
        </p:nvSpPr>
        <p:spPr>
          <a:xfrm>
            <a:off x="3151440" y="8143920"/>
            <a:ext cx="884880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Push to github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Deploy using StreamLit Cloud"/>
          <p:cNvSpPr/>
          <p:nvPr/>
        </p:nvSpPr>
        <p:spPr>
          <a:xfrm>
            <a:off x="2941560" y="10557000"/>
            <a:ext cx="17700480" cy="1625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Deploy using StreamLit Cloud</a:t>
            </a:r>
            <a:endParaRPr b="0" lang="en-US" sz="10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8" dur="indefinite" restart="never" nodeType="tmRoot">
          <p:childTnLst>
            <p:seq>
              <p:cTn id="789" dur="indefinite" nodeType="mainSeq">
                <p:childTnLst>
                  <p:par>
                    <p:cTn id="790" fill="hold">
                      <p:stCondLst>
                        <p:cond delay="indefinite"/>
                      </p:stCondLst>
                      <p:childTnLst>
                        <p:par>
                          <p:cTn id="791" fill="hold">
                            <p:stCondLst>
                              <p:cond delay="0"/>
                            </p:stCondLst>
                            <p:childTnLst>
                              <p:par>
                                <p:cTn id="79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3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4" fill="hold">
                      <p:stCondLst>
                        <p:cond delay="indefinite"/>
                      </p:stCondLst>
                      <p:childTnLst>
                        <p:par>
                          <p:cTn id="795" fill="hold">
                            <p:stCondLst>
                              <p:cond delay="0"/>
                            </p:stCondLst>
                            <p:childTnLst>
                              <p:par>
                                <p:cTn id="79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7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8" fill="hold">
                      <p:stCondLst>
                        <p:cond delay="indefinite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1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2" fill="hold">
                      <p:stCondLst>
                        <p:cond delay="indefinite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id="80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5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6" fill="hold">
                      <p:stCondLst>
                        <p:cond delay="indefinite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id="80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9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User"/>
          <p:cNvSpPr/>
          <p:nvPr/>
        </p:nvSpPr>
        <p:spPr>
          <a:xfrm>
            <a:off x="1693800" y="7338600"/>
            <a:ext cx="17668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User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asoning"/>
          <p:cNvSpPr/>
          <p:nvPr/>
        </p:nvSpPr>
        <p:spPr>
          <a:xfrm>
            <a:off x="16062840" y="3023640"/>
            <a:ext cx="38653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Reasoning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Action"/>
          <p:cNvSpPr/>
          <p:nvPr/>
        </p:nvSpPr>
        <p:spPr>
          <a:xfrm>
            <a:off x="16889760" y="5023440"/>
            <a:ext cx="23565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Action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Line"/>
          <p:cNvSpPr/>
          <p:nvPr/>
        </p:nvSpPr>
        <p:spPr>
          <a:xfrm>
            <a:off x="18122400" y="8119440"/>
            <a:ext cx="0" cy="99468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62" name="LLM"/>
          <p:cNvSpPr/>
          <p:nvPr/>
        </p:nvSpPr>
        <p:spPr>
          <a:xfrm>
            <a:off x="9441360" y="5845680"/>
            <a:ext cx="3215160" cy="1626120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LLM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Agent"/>
          <p:cNvSpPr/>
          <p:nvPr/>
        </p:nvSpPr>
        <p:spPr>
          <a:xfrm>
            <a:off x="9279720" y="1028520"/>
            <a:ext cx="315540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Agent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ools"/>
          <p:cNvSpPr/>
          <p:nvPr/>
        </p:nvSpPr>
        <p:spPr>
          <a:xfrm>
            <a:off x="11583000" y="2718000"/>
            <a:ext cx="3215160" cy="16261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Tools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esponse"/>
          <p:cNvSpPr/>
          <p:nvPr/>
        </p:nvSpPr>
        <p:spPr>
          <a:xfrm>
            <a:off x="16259040" y="9326160"/>
            <a:ext cx="35650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Response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Line"/>
          <p:cNvSpPr/>
          <p:nvPr/>
        </p:nvSpPr>
        <p:spPr>
          <a:xfrm flipH="1" flipV="1">
            <a:off x="4588920" y="7151040"/>
            <a:ext cx="11577600" cy="268272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67" name="Line"/>
          <p:cNvSpPr/>
          <p:nvPr/>
        </p:nvSpPr>
        <p:spPr>
          <a:xfrm>
            <a:off x="18067680" y="5996520"/>
            <a:ext cx="0" cy="7092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68" name="Computer"/>
          <p:cNvSpPr/>
          <p:nvPr/>
        </p:nvSpPr>
        <p:spPr>
          <a:xfrm>
            <a:off x="1667160" y="4974120"/>
            <a:ext cx="2287080" cy="1845720"/>
          </a:xfrm>
          <a:custGeom>
            <a:avLst/>
            <a:gdLst>
              <a:gd name="textAreaLeft" fmla="*/ 0 w 2287080"/>
              <a:gd name="textAreaRight" fmla="*/ 2287440 w 2287080"/>
              <a:gd name="textAreaTop" fmla="*/ 0 h 1845720"/>
              <a:gd name="textAreaBottom" fmla="*/ 1846080 h 1845720"/>
            </a:gdLst>
            <a:ahLst/>
            <a:rect l="textAreaLeft" t="textAreaTop" r="textAreaRight" b="textAreaBottom"/>
            <a:pathLst>
              <a:path w="21595" h="2160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269" name="Line"/>
          <p:cNvSpPr/>
          <p:nvPr/>
        </p:nvSpPr>
        <p:spPr>
          <a:xfrm flipV="1">
            <a:off x="13042440" y="4722120"/>
            <a:ext cx="3512880" cy="221292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70" name="Input"/>
          <p:cNvSpPr/>
          <p:nvPr/>
        </p:nvSpPr>
        <p:spPr>
          <a:xfrm>
            <a:off x="5949000" y="6151320"/>
            <a:ext cx="204444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Input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ectangle"/>
          <p:cNvSpPr/>
          <p:nvPr/>
        </p:nvSpPr>
        <p:spPr>
          <a:xfrm>
            <a:off x="8941320" y="507240"/>
            <a:ext cx="13234680" cy="11179440"/>
          </a:xfrm>
          <a:prstGeom prst="rect">
            <a:avLst/>
          </a:prstGeom>
          <a:noFill/>
          <a:ln w="63500">
            <a:solidFill>
              <a:srgbClr val="48a6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272" name="Observe"/>
          <p:cNvSpPr/>
          <p:nvPr/>
        </p:nvSpPr>
        <p:spPr>
          <a:xfrm>
            <a:off x="16449480" y="7023240"/>
            <a:ext cx="30913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Observe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Line"/>
          <p:cNvSpPr/>
          <p:nvPr/>
        </p:nvSpPr>
        <p:spPr>
          <a:xfrm flipH="1" flipV="1">
            <a:off x="19759320" y="3709080"/>
            <a:ext cx="659160" cy="23148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74" name="Line"/>
          <p:cNvSpPr/>
          <p:nvPr/>
        </p:nvSpPr>
        <p:spPr>
          <a:xfrm>
            <a:off x="4685760" y="6223680"/>
            <a:ext cx="4024440" cy="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75" name="Connection Line"/>
          <p:cNvSpPr/>
          <p:nvPr/>
        </p:nvSpPr>
        <p:spPr>
          <a:xfrm>
            <a:off x="19950840" y="3941640"/>
            <a:ext cx="1788840" cy="3801600"/>
          </a:xfrm>
          <a:custGeom>
            <a:avLst/>
            <a:gdLst>
              <a:gd name="textAreaLeft" fmla="*/ 0 w 1788840"/>
              <a:gd name="textAreaRight" fmla="*/ 1789200 w 1788840"/>
              <a:gd name="textAreaTop" fmla="*/ 0 h 3801600"/>
              <a:gd name="textAreaBottom" fmla="*/ 3801960 h 3801600"/>
            </a:gdLst>
            <a:ahLst/>
            <a:rect l="textAreaLeft" t="textAreaTop" r="textAreaRight" b="textAreaBottom"/>
            <a:pathLst>
              <a:path w="16260" h="21600">
                <a:moveTo>
                  <a:pt x="0" y="21600"/>
                </a:moveTo>
                <a:cubicBezTo>
                  <a:pt x="20362" y="12699"/>
                  <a:pt x="21600" y="5499"/>
                  <a:pt x="3713" y="0"/>
                </a:cubicBezTo>
              </a:path>
            </a:pathLst>
          </a:cu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76" name="Line"/>
          <p:cNvSpPr/>
          <p:nvPr/>
        </p:nvSpPr>
        <p:spPr>
          <a:xfrm>
            <a:off x="18249480" y="4548600"/>
            <a:ext cx="0" cy="7092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77" name="Prompt"/>
          <p:cNvSpPr/>
          <p:nvPr/>
        </p:nvSpPr>
        <p:spPr>
          <a:xfrm>
            <a:off x="9830160" y="4711680"/>
            <a:ext cx="277884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0" dur="indefinite" restart="never" nodeType="tmRoot">
          <p:childTnLst>
            <p:seq>
              <p:cTn id="811" dur="indefinite" nodeType="mainSeq">
                <p:childTnLst>
                  <p:par>
                    <p:cTn id="812" fill="hold">
                      <p:stCondLst>
                        <p:cond delay="indefinite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5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6" fill="hold">
                      <p:stCondLst>
                        <p:cond delay="indefinite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id="81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9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0" fill="hold">
                      <p:stCondLst>
                        <p:cond delay="indefinite"/>
                      </p:stCondLst>
                      <p:childTnLst>
                        <p:par>
                          <p:cTn id="821" fill="hold">
                            <p:stCondLst>
                              <p:cond delay="0"/>
                            </p:stCondLst>
                            <p:childTnLst>
                              <p:par>
                                <p:cTn id="82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3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4" fill="hold">
                      <p:stCondLst>
                        <p:cond delay="indefinite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id="82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7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8" fill="hold">
                      <p:stCondLst>
                        <p:cond delay="indefinite"/>
                      </p:stCondLst>
                      <p:childTnLst>
                        <p:par>
                          <p:cTn id="829" fill="hold">
                            <p:stCondLst>
                              <p:cond delay="0"/>
                            </p:stCondLst>
                            <p:childTnLst>
                              <p:par>
                                <p:cTn id="83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1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2" fill="hold">
                      <p:stCondLst>
                        <p:cond delay="indefinite"/>
                      </p:stCondLst>
                      <p:childTnLst>
                        <p:par>
                          <p:cTn id="833" fill="hold">
                            <p:stCondLst>
                              <p:cond delay="0"/>
                            </p:stCondLst>
                            <p:childTnLst>
                              <p:par>
                                <p:cTn id="83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5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6" fill="hold">
                      <p:stCondLst>
                        <p:cond delay="indefinite"/>
                      </p:stCondLst>
                      <p:childTnLst>
                        <p:par>
                          <p:cTn id="837" fill="hold">
                            <p:stCondLst>
                              <p:cond delay="0"/>
                            </p:stCondLst>
                            <p:childTnLst>
                              <p:par>
                                <p:cTn id="83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9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0" fill="hold">
                      <p:stCondLst>
                        <p:cond delay="indefinite"/>
                      </p:stCondLst>
                      <p:childTnLst>
                        <p:par>
                          <p:cTn id="841" fill="hold">
                            <p:stCondLst>
                              <p:cond delay="0"/>
                            </p:stCondLst>
                            <p:childTnLst>
                              <p:par>
                                <p:cTn id="84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3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4" fill="hold">
                      <p:stCondLst>
                        <p:cond delay="indefinite"/>
                      </p:stCondLst>
                      <p:childTnLst>
                        <p:par>
                          <p:cTn id="845" fill="hold">
                            <p:stCondLst>
                              <p:cond delay="0"/>
                            </p:stCondLst>
                            <p:childTnLst>
                              <p:par>
                                <p:cTn id="84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7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8" fill="hold">
                      <p:stCondLst>
                        <p:cond delay="indefinite"/>
                      </p:stCondLst>
                      <p:childTnLst>
                        <p:par>
                          <p:cTn id="849" fill="hold">
                            <p:stCondLst>
                              <p:cond delay="0"/>
                            </p:stCondLst>
                            <p:childTnLst>
                              <p:par>
                                <p:cTn id="85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1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2" fill="hold">
                      <p:stCondLst>
                        <p:cond delay="indefinite"/>
                      </p:stCondLst>
                      <p:childTnLst>
                        <p:par>
                          <p:cTn id="853" fill="hold">
                            <p:stCondLst>
                              <p:cond delay="0"/>
                            </p:stCondLst>
                            <p:childTnLst>
                              <p:par>
                                <p:cTn id="85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5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6" fill="hold">
                      <p:stCondLst>
                        <p:cond delay="indefinite"/>
                      </p:stCondLst>
                      <p:childTnLst>
                        <p:par>
                          <p:cTn id="857" fill="hold">
                            <p:stCondLst>
                              <p:cond delay="0"/>
                            </p:stCondLst>
                            <p:childTnLst>
                              <p:par>
                                <p:cTn id="85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9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0" fill="hold">
                      <p:stCondLst>
                        <p:cond delay="indefinite"/>
                      </p:stCondLst>
                      <p:childTnLst>
                        <p:par>
                          <p:cTn id="861" fill="hold">
                            <p:stCondLst>
                              <p:cond delay="0"/>
                            </p:stCondLst>
                            <p:childTnLst>
                              <p:par>
                                <p:cTn id="86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3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4" fill="hold">
                      <p:stCondLst>
                        <p:cond delay="indefinite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id="86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7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8" fill="hold">
                      <p:stCondLst>
                        <p:cond delay="indefinite"/>
                      </p:stCondLst>
                      <p:childTnLst>
                        <p:par>
                          <p:cTn id="869" fill="hold">
                            <p:stCondLst>
                              <p:cond delay="0"/>
                            </p:stCondLst>
                            <p:childTnLst>
                              <p:par>
                                <p:cTn id="87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1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2" fill="hold">
                      <p:stCondLst>
                        <p:cond delay="indefinite"/>
                      </p:stCondLst>
                      <p:childTnLst>
                        <p:par>
                          <p:cTn id="873" fill="hold">
                            <p:stCondLst>
                              <p:cond delay="0"/>
                            </p:stCondLst>
                            <p:childTnLst>
                              <p:par>
                                <p:cTn id="87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5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6" fill="hold">
                      <p:stCondLst>
                        <p:cond delay="indefinite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9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0" fill="hold">
                      <p:stCondLst>
                        <p:cond delay="indefinite"/>
                      </p:stCondLst>
                      <p:childTnLst>
                        <p:par>
                          <p:cTn id="881" fill="hold">
                            <p:stCondLst>
                              <p:cond delay="0"/>
                            </p:stCondLst>
                            <p:childTnLst>
                              <p:par>
                                <p:cTn id="88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3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4" fill="hold">
                      <p:stCondLst>
                        <p:cond delay="indefinite"/>
                      </p:stCondLst>
                      <p:childTnLst>
                        <p:par>
                          <p:cTn id="885" fill="hold">
                            <p:stCondLst>
                              <p:cond delay="0"/>
                            </p:stCondLst>
                            <p:childTnLst>
                              <p:par>
                                <p:cTn id="88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7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8" fill="hold">
                      <p:stCondLst>
                        <p:cond delay="indefinite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id="89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1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User"/>
          <p:cNvSpPr/>
          <p:nvPr/>
        </p:nvSpPr>
        <p:spPr>
          <a:xfrm>
            <a:off x="1718640" y="8099640"/>
            <a:ext cx="17668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User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Reasoning"/>
          <p:cNvSpPr/>
          <p:nvPr/>
        </p:nvSpPr>
        <p:spPr>
          <a:xfrm>
            <a:off x="16556040" y="3760920"/>
            <a:ext cx="38653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Reasoning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Action"/>
          <p:cNvSpPr/>
          <p:nvPr/>
        </p:nvSpPr>
        <p:spPr>
          <a:xfrm>
            <a:off x="17382960" y="5760720"/>
            <a:ext cx="235656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Action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Line"/>
          <p:cNvSpPr/>
          <p:nvPr/>
        </p:nvSpPr>
        <p:spPr>
          <a:xfrm>
            <a:off x="18615600" y="8856720"/>
            <a:ext cx="0" cy="99468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82" name="LLM"/>
          <p:cNvSpPr/>
          <p:nvPr/>
        </p:nvSpPr>
        <p:spPr>
          <a:xfrm>
            <a:off x="9790200" y="7353720"/>
            <a:ext cx="3215160" cy="1626120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LLM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Agent"/>
          <p:cNvSpPr/>
          <p:nvPr/>
        </p:nvSpPr>
        <p:spPr>
          <a:xfrm>
            <a:off x="9304560" y="1789560"/>
            <a:ext cx="3155400" cy="1319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Agent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ools"/>
          <p:cNvSpPr/>
          <p:nvPr/>
        </p:nvSpPr>
        <p:spPr>
          <a:xfrm>
            <a:off x="13444920" y="7669440"/>
            <a:ext cx="2626920" cy="9943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Helvetica Neue Medium"/>
                <a:ea typeface="Helvetica Neue Medium"/>
              </a:rPr>
              <a:t>Tools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Response"/>
          <p:cNvSpPr/>
          <p:nvPr/>
        </p:nvSpPr>
        <p:spPr>
          <a:xfrm>
            <a:off x="16752240" y="10063440"/>
            <a:ext cx="356508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Response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Line"/>
          <p:cNvSpPr/>
          <p:nvPr/>
        </p:nvSpPr>
        <p:spPr>
          <a:xfrm flipH="1" flipV="1">
            <a:off x="4613760" y="7912080"/>
            <a:ext cx="11577600" cy="268272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87" name="Line"/>
          <p:cNvSpPr/>
          <p:nvPr/>
        </p:nvSpPr>
        <p:spPr>
          <a:xfrm>
            <a:off x="18561240" y="6733800"/>
            <a:ext cx="0" cy="7092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88" name="Computer"/>
          <p:cNvSpPr/>
          <p:nvPr/>
        </p:nvSpPr>
        <p:spPr>
          <a:xfrm>
            <a:off x="1692360" y="5735160"/>
            <a:ext cx="2287080" cy="1845720"/>
          </a:xfrm>
          <a:custGeom>
            <a:avLst/>
            <a:gdLst>
              <a:gd name="textAreaLeft" fmla="*/ 0 w 2287080"/>
              <a:gd name="textAreaRight" fmla="*/ 2287440 w 2287080"/>
              <a:gd name="textAreaTop" fmla="*/ 0 h 1845720"/>
              <a:gd name="textAreaBottom" fmla="*/ 1846080 h 1845720"/>
            </a:gdLst>
            <a:ahLst/>
            <a:rect l="textAreaLeft" t="textAreaTop" r="textAreaRight" b="textAreaBottom"/>
            <a:pathLst>
              <a:path w="21595" h="2160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289" name="Line"/>
          <p:cNvSpPr/>
          <p:nvPr/>
        </p:nvSpPr>
        <p:spPr>
          <a:xfrm flipV="1">
            <a:off x="13067280" y="4814280"/>
            <a:ext cx="4006440" cy="28818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90" name="Task"/>
          <p:cNvSpPr/>
          <p:nvPr/>
        </p:nvSpPr>
        <p:spPr>
          <a:xfrm>
            <a:off x="6164280" y="6912000"/>
            <a:ext cx="166320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Task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Rectangle"/>
          <p:cNvSpPr/>
          <p:nvPr/>
        </p:nvSpPr>
        <p:spPr>
          <a:xfrm>
            <a:off x="8966160" y="1267920"/>
            <a:ext cx="13234680" cy="11179440"/>
          </a:xfrm>
          <a:prstGeom prst="rect">
            <a:avLst/>
          </a:prstGeom>
          <a:noFill/>
          <a:ln w="63500">
            <a:solidFill>
              <a:srgbClr val="48a6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292" name="Observe"/>
          <p:cNvSpPr/>
          <p:nvPr/>
        </p:nvSpPr>
        <p:spPr>
          <a:xfrm>
            <a:off x="16943040" y="7760520"/>
            <a:ext cx="309132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Observe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Line"/>
          <p:cNvSpPr/>
          <p:nvPr/>
        </p:nvSpPr>
        <p:spPr>
          <a:xfrm flipH="1" flipV="1">
            <a:off x="20252520" y="4446360"/>
            <a:ext cx="659160" cy="23148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94" name="Line"/>
          <p:cNvSpPr/>
          <p:nvPr/>
        </p:nvSpPr>
        <p:spPr>
          <a:xfrm>
            <a:off x="4710600" y="6984720"/>
            <a:ext cx="4024440" cy="36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0" bIns="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95" name="Connection Line"/>
          <p:cNvSpPr/>
          <p:nvPr/>
        </p:nvSpPr>
        <p:spPr>
          <a:xfrm>
            <a:off x="20444040" y="4678920"/>
            <a:ext cx="1788840" cy="3801600"/>
          </a:xfrm>
          <a:custGeom>
            <a:avLst/>
            <a:gdLst>
              <a:gd name="textAreaLeft" fmla="*/ 0 w 1788840"/>
              <a:gd name="textAreaRight" fmla="*/ 1789200 w 1788840"/>
              <a:gd name="textAreaTop" fmla="*/ 0 h 3801600"/>
              <a:gd name="textAreaBottom" fmla="*/ 3801960 h 3801600"/>
            </a:gdLst>
            <a:ahLst/>
            <a:rect l="textAreaLeft" t="textAreaTop" r="textAreaRight" b="textAreaBottom"/>
            <a:pathLst>
              <a:path w="16260" h="21600">
                <a:moveTo>
                  <a:pt x="0" y="21600"/>
                </a:moveTo>
                <a:cubicBezTo>
                  <a:pt x="20362" y="12699"/>
                  <a:pt x="21600" y="5499"/>
                  <a:pt x="3713" y="0"/>
                </a:cubicBezTo>
              </a:path>
            </a:pathLst>
          </a:custGeom>
          <a:noFill/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96" name="Line"/>
          <p:cNvSpPr/>
          <p:nvPr/>
        </p:nvSpPr>
        <p:spPr>
          <a:xfrm>
            <a:off x="18742680" y="5285880"/>
            <a:ext cx="0" cy="709200"/>
          </a:xfrm>
          <a:prstGeom prst="line">
            <a:avLst/>
          </a:prstGeom>
          <a:ln w="635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1" lang="en-US" sz="3000" spc="-1" strike="noStrike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297" name="Prompt"/>
          <p:cNvSpPr/>
          <p:nvPr/>
        </p:nvSpPr>
        <p:spPr>
          <a:xfrm>
            <a:off x="9581760" y="6350400"/>
            <a:ext cx="2778840" cy="1015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Prompt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Wikipedia"/>
          <p:cNvSpPr/>
          <p:nvPr/>
        </p:nvSpPr>
        <p:spPr>
          <a:xfrm>
            <a:off x="19371600" y="5285520"/>
            <a:ext cx="243144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Wikipedia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Wikipedia"/>
          <p:cNvSpPr/>
          <p:nvPr/>
        </p:nvSpPr>
        <p:spPr>
          <a:xfrm>
            <a:off x="14825160" y="6756840"/>
            <a:ext cx="243144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Wikipedia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earch"/>
          <p:cNvSpPr/>
          <p:nvPr/>
        </p:nvSpPr>
        <p:spPr>
          <a:xfrm>
            <a:off x="15273720" y="6302880"/>
            <a:ext cx="1706040" cy="710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Search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92" dur="indefinite" restart="never" nodeType="tmRoot">
          <p:childTnLst>
            <p:seq>
              <p:cTn id="893" dur="indefinite" nodeType="mainSeq">
                <p:childTnLst>
                  <p:par>
                    <p:cTn id="894" fill="hold">
                      <p:stCondLst>
                        <p:cond delay="indefinite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id="89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7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8" fill="hold">
                      <p:stCondLst>
                        <p:cond delay="indefinite"/>
                      </p:stCondLst>
                      <p:childTnLst>
                        <p:par>
                          <p:cTn id="899" fill="hold">
                            <p:stCondLst>
                              <p:cond delay="0"/>
                            </p:stCondLst>
                            <p:childTnLst>
                              <p:par>
                                <p:cTn id="90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1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2" fill="hold">
                      <p:stCondLst>
                        <p:cond delay="indefinite"/>
                      </p:stCondLst>
                      <p:childTnLst>
                        <p:par>
                          <p:cTn id="903" fill="hold">
                            <p:stCondLst>
                              <p:cond delay="0"/>
                            </p:stCondLst>
                            <p:childTnLst>
                              <p:par>
                                <p:cTn id="90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5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6" fill="hold">
                      <p:stCondLst>
                        <p:cond delay="indefinite"/>
                      </p:stCondLst>
                      <p:childTnLst>
                        <p:par>
                          <p:cTn id="907" fill="hold">
                            <p:stCondLst>
                              <p:cond delay="0"/>
                            </p:stCondLst>
                            <p:childTnLst>
                              <p:par>
                                <p:cTn id="90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9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0" fill="hold">
                      <p:stCondLst>
                        <p:cond delay="indefinite"/>
                      </p:stCondLst>
                      <p:childTnLst>
                        <p:par>
                          <p:cTn id="911" fill="hold">
                            <p:stCondLst>
                              <p:cond delay="0"/>
                            </p:stCondLst>
                            <p:childTnLst>
                              <p:par>
                                <p:cTn id="91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3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4" fill="hold">
                      <p:stCondLst>
                        <p:cond delay="indefinite"/>
                      </p:stCondLst>
                      <p:childTnLst>
                        <p:par>
                          <p:cTn id="915" fill="hold">
                            <p:stCondLst>
                              <p:cond delay="0"/>
                            </p:stCondLst>
                            <p:childTnLst>
                              <p:par>
                                <p:cTn id="91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7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8" fill="hold">
                      <p:stCondLst>
                        <p:cond delay="indefinite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1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2" fill="hold">
                      <p:stCondLst>
                        <p:cond delay="indefinite"/>
                      </p:stCondLst>
                      <p:childTnLst>
                        <p:par>
                          <p:cTn id="923" fill="hold">
                            <p:stCondLst>
                              <p:cond delay="0"/>
                            </p:stCondLst>
                            <p:childTnLst>
                              <p:par>
                                <p:cTn id="92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5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6" fill="hold">
                      <p:stCondLst>
                        <p:cond delay="indefinite"/>
                      </p:stCondLst>
                      <p:childTnLst>
                        <p:par>
                          <p:cTn id="927" fill="hold">
                            <p:stCondLst>
                              <p:cond delay="0"/>
                            </p:stCondLst>
                            <p:childTnLst>
                              <p:par>
                                <p:cTn id="92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9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0" fill="hold">
                      <p:stCondLst>
                        <p:cond delay="indefinite"/>
                      </p:stCondLst>
                      <p:childTnLst>
                        <p:par>
                          <p:cTn id="931" fill="hold">
                            <p:stCondLst>
                              <p:cond delay="0"/>
                            </p:stCondLst>
                            <p:childTnLst>
                              <p:par>
                                <p:cTn id="93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3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4" fill="hold">
                      <p:stCondLst>
                        <p:cond delay="indefinite"/>
                      </p:stCondLst>
                      <p:childTnLst>
                        <p:par>
                          <p:cTn id="935" fill="hold">
                            <p:stCondLst>
                              <p:cond delay="0"/>
                            </p:stCondLst>
                            <p:childTnLst>
                              <p:par>
                                <p:cTn id="93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7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8" fill="hold">
                      <p:stCondLst>
                        <p:cond delay="indefinite"/>
                      </p:stCondLst>
                      <p:childTnLst>
                        <p:par>
                          <p:cTn id="939" fill="hold">
                            <p:stCondLst>
                              <p:cond delay="0"/>
                            </p:stCondLst>
                            <p:childTnLst>
                              <p:par>
                                <p:cTn id="94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1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2" fill="hold">
                      <p:stCondLst>
                        <p:cond delay="indefinite"/>
                      </p:stCondLst>
                      <p:childTnLst>
                        <p:par>
                          <p:cTn id="943" fill="hold">
                            <p:stCondLst>
                              <p:cond delay="0"/>
                            </p:stCondLst>
                            <p:childTnLst>
                              <p:par>
                                <p:cTn id="94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5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6" fill="hold">
                      <p:stCondLst>
                        <p:cond delay="indefinite"/>
                      </p:stCondLst>
                      <p:childTnLst>
                        <p:par>
                          <p:cTn id="947" fill="hold">
                            <p:stCondLst>
                              <p:cond delay="0"/>
                            </p:stCondLst>
                            <p:childTnLst>
                              <p:par>
                                <p:cTn id="94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9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0" fill="hold">
                      <p:stCondLst>
                        <p:cond delay="indefinite"/>
                      </p:stCondLst>
                      <p:childTnLst>
                        <p:par>
                          <p:cTn id="951" fill="hold">
                            <p:stCondLst>
                              <p:cond delay="0"/>
                            </p:stCondLst>
                            <p:childTnLst>
                              <p:par>
                                <p:cTn id="95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3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4" fill="hold">
                      <p:stCondLst>
                        <p:cond delay="indefinite"/>
                      </p:stCondLst>
                      <p:childTnLst>
                        <p:par>
                          <p:cTn id="955" fill="hold">
                            <p:stCondLst>
                              <p:cond delay="0"/>
                            </p:stCondLst>
                            <p:childTnLst>
                              <p:par>
                                <p:cTn id="95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7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8" fill="hold">
                      <p:stCondLst>
                        <p:cond delay="indefinite"/>
                      </p:stCondLst>
                      <p:childTnLst>
                        <p:par>
                          <p:cTn id="959" fill="hold">
                            <p:stCondLst>
                              <p:cond delay="0"/>
                            </p:stCondLst>
                            <p:childTnLst>
                              <p:par>
                                <p:cTn id="96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1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2" fill="hold">
                      <p:stCondLst>
                        <p:cond delay="indefinite"/>
                      </p:stCondLst>
                      <p:childTnLst>
                        <p:par>
                          <p:cTn id="963" fill="hold">
                            <p:stCondLst>
                              <p:cond delay="0"/>
                            </p:stCondLst>
                            <p:childTnLst>
                              <p:par>
                                <p:cTn id="96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5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6" fill="hold">
                      <p:stCondLst>
                        <p:cond delay="indefinite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9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0" fill="hold">
                      <p:stCondLst>
                        <p:cond delay="indefinite"/>
                      </p:stCondLst>
                      <p:childTnLst>
                        <p:par>
                          <p:cTn id="971" fill="hold">
                            <p:stCondLst>
                              <p:cond delay="0"/>
                            </p:stCondLst>
                            <p:childTnLst>
                              <p:par>
                                <p:cTn id="972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3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4" fill="hold">
                      <p:stCondLst>
                        <p:cond delay="indefinite"/>
                      </p:stCondLst>
                      <p:childTnLst>
                        <p:par>
                          <p:cTn id="975" fill="hold">
                            <p:stCondLst>
                              <p:cond delay="0"/>
                            </p:stCondLst>
                            <p:childTnLst>
                              <p:par>
                                <p:cTn id="976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7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8" fill="hold">
                      <p:stCondLst>
                        <p:cond delay="indefinite"/>
                      </p:stCondLst>
                      <p:childTnLst>
                        <p:par>
                          <p:cTn id="979" fill="hold">
                            <p:stCondLst>
                              <p:cond delay="0"/>
                            </p:stCondLst>
                            <p:childTnLst>
                              <p:par>
                                <p:cTn id="980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1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2" fill="hold">
                      <p:stCondLst>
                        <p:cond delay="indefinite"/>
                      </p:stCondLst>
                      <p:childTnLst>
                        <p:par>
                          <p:cTn id="983" fill="hold">
                            <p:stCondLst>
                              <p:cond delay="0"/>
                            </p:stCondLst>
                            <p:childTnLst>
                              <p:par>
                                <p:cTn id="984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5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Why MCP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5200" spc="-1" strike="noStrike">
                <a:solidFill>
                  <a:srgbClr val="000000"/>
                </a:solidFill>
                <a:latin typeface="Helvetica Neue"/>
              </a:rPr>
              <a:t>Duplication of tools, resources and prompts per host or agents. </a:t>
            </a: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pic>
        <p:nvPicPr>
          <p:cNvPr id="303" name="" descr=""/>
          <p:cNvPicPr/>
          <p:nvPr/>
        </p:nvPicPr>
        <p:blipFill>
          <a:blip r:embed="rId1"/>
          <a:stretch/>
        </p:blipFill>
        <p:spPr>
          <a:xfrm rot="29400">
            <a:off x="2480400" y="4334040"/>
            <a:ext cx="15312600" cy="885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Helvetica Neue"/>
              </a:rPr>
              <a:t>Anthropic introduced MCP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pic>
        <p:nvPicPr>
          <p:cNvPr id="306" name="" descr=""/>
          <p:cNvPicPr/>
          <p:nvPr/>
        </p:nvPicPr>
        <p:blipFill>
          <a:blip r:embed="rId1"/>
          <a:stretch/>
        </p:blipFill>
        <p:spPr>
          <a:xfrm>
            <a:off x="2971800" y="2837160"/>
            <a:ext cx="16916400" cy="978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/>
          </p:nvPr>
        </p:nvSpPr>
        <p:spPr>
          <a:xfrm>
            <a:off x="1218960" y="1143000"/>
            <a:ext cx="21944880" cy="1002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pic>
        <p:nvPicPr>
          <p:cNvPr id="308" name="" descr=""/>
          <p:cNvPicPr/>
          <p:nvPr/>
        </p:nvPicPr>
        <p:blipFill>
          <a:blip r:embed="rId1"/>
          <a:stretch/>
        </p:blipFill>
        <p:spPr>
          <a:xfrm>
            <a:off x="1600200" y="1371600"/>
            <a:ext cx="16910640" cy="914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pic>
        <p:nvPicPr>
          <p:cNvPr id="311" name="" descr=""/>
          <p:cNvPicPr/>
          <p:nvPr/>
        </p:nvPicPr>
        <p:blipFill>
          <a:blip r:embed="rId1"/>
          <a:stretch/>
        </p:blipFill>
        <p:spPr>
          <a:xfrm>
            <a:off x="2971800" y="1828800"/>
            <a:ext cx="14859000" cy="937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pic>
        <p:nvPicPr>
          <p:cNvPr id="314" name="" descr=""/>
          <p:cNvPicPr/>
          <p:nvPr/>
        </p:nvPicPr>
        <p:blipFill>
          <a:blip r:embed="rId1"/>
          <a:stretch/>
        </p:blipFill>
        <p:spPr>
          <a:xfrm>
            <a:off x="1600200" y="1600200"/>
            <a:ext cx="12410640" cy="842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2026-02-11T17:58:12Z</cp:lastPrinted>
  <dcterms:modified xsi:type="dcterms:W3CDTF">2026-02-11T19:38:53Z</dcterms:modified>
  <cp:revision>2</cp:revision>
  <dc:subject/>
  <dc:title/>
</cp:coreProperties>
</file>